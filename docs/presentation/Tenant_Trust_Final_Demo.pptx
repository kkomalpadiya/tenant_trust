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b5f903ee734cef" /><Relationship Type="http://schemas.openxmlformats.org/officeDocument/2006/relationships/extended-properties" Target="/docProps/app.xml" Id="R44482083100648ce" /><Relationship Type="http://schemas.openxmlformats.org/officeDocument/2006/relationships/officeDocument" Target="/ppt/presentation.xml" Id="R94459072ff2640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c3a0d3c67422e"/>
  </p:sldMasterIdLst>
  <p:notesMasterIdLst>
    <p:notesMasterId xmlns:r="http://schemas.openxmlformats.org/officeDocument/2006/relationships" r:id="Rdd56e1fa4181473e"/>
  </p:notesMasterIdLst>
  <p:sldIdLst>
    <p:sldId xmlns:r="http://schemas.openxmlformats.org/officeDocument/2006/relationships" id="256" r:id="Rf933af2894dc4713"/>
    <p:sldId xmlns:r="http://schemas.openxmlformats.org/officeDocument/2006/relationships" id="257" r:id="Re9e908cdc68b4e6e"/>
    <p:sldId xmlns:r="http://schemas.openxmlformats.org/officeDocument/2006/relationships" id="258" r:id="R6998b6b09c5340be"/>
    <p:sldId xmlns:r="http://schemas.openxmlformats.org/officeDocument/2006/relationships" id="259" r:id="Rcc83462e89924805"/>
    <p:sldId xmlns:r="http://schemas.openxmlformats.org/officeDocument/2006/relationships" id="260" r:id="R79d7da41bdc541c7"/>
    <p:sldId xmlns:r="http://schemas.openxmlformats.org/officeDocument/2006/relationships" id="261" r:id="R736258b03a354a26"/>
    <p:sldId xmlns:r="http://schemas.openxmlformats.org/officeDocument/2006/relationships" id="262" r:id="R2c716486ab604345"/>
    <p:sldId xmlns:r="http://schemas.openxmlformats.org/officeDocument/2006/relationships" id="263" r:id="Rb0ab7d51b3be4d41"/>
    <p:sldId xmlns:r="http://schemas.openxmlformats.org/officeDocument/2006/relationships" id="264" r:id="Refe282fd750c4665"/>
    <p:sldId xmlns:r="http://schemas.openxmlformats.org/officeDocument/2006/relationships" id="265" r:id="R48375ad593a045cc"/>
    <p:sldId xmlns:r="http://schemas.openxmlformats.org/officeDocument/2006/relationships" id="266" r:id="R808db2d579434cf8"/>
    <p:sldId xmlns:r="http://schemas.openxmlformats.org/officeDocument/2006/relationships" id="267" r:id="R6d00be75451a4dbd"/>
    <p:sldId xmlns:r="http://schemas.openxmlformats.org/officeDocument/2006/relationships" id="268" r:id="R1e53c09cc9fc47f9"/>
    <p:sldId xmlns:r="http://schemas.openxmlformats.org/officeDocument/2006/relationships" id="269" r:id="Rbc46382d145243df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1c4a798f8e4474" /><Relationship Type="http://schemas.openxmlformats.org/officeDocument/2006/relationships/slideMaster" Target="/ppt/slideMasters/slideMaster1.xml" Id="R2acc3a0d3c67422e" /><Relationship Type="http://schemas.openxmlformats.org/officeDocument/2006/relationships/notesMaster" Target="/ppt/notesMasters/notesMaster1.xml" Id="Rdd56e1fa4181473e" /><Relationship Type="http://schemas.openxmlformats.org/officeDocument/2006/relationships/presProps" Target="/ppt/presProps.xml" Id="R3ba698f31b2f4e68" /><Relationship Type="http://schemas.openxmlformats.org/officeDocument/2006/relationships/viewProps" Target="/ppt/viewProps.xml" Id="R07811089951b4aea" /><Relationship Type="http://schemas.openxmlformats.org/officeDocument/2006/relationships/tableStyles" Target="/ppt/tableStyles.xml" Id="Ra356f94187454f32" /><Relationship Type="http://schemas.openxmlformats.org/officeDocument/2006/relationships/slide" Target="/ppt/slides/slide1.xml" Id="Rf933af2894dc4713" /><Relationship Type="http://schemas.openxmlformats.org/officeDocument/2006/relationships/slide" Target="/ppt/slides/slide2.xml" Id="Re9e908cdc68b4e6e" /><Relationship Type="http://schemas.openxmlformats.org/officeDocument/2006/relationships/slide" Target="/ppt/slides/slide3.xml" Id="R6998b6b09c5340be" /><Relationship Type="http://schemas.openxmlformats.org/officeDocument/2006/relationships/slide" Target="/ppt/slides/slide4.xml" Id="Rcc83462e89924805" /><Relationship Type="http://schemas.openxmlformats.org/officeDocument/2006/relationships/slide" Target="/ppt/slides/slide5.xml" Id="R79d7da41bdc541c7" /><Relationship Type="http://schemas.openxmlformats.org/officeDocument/2006/relationships/slide" Target="/ppt/slides/slide6.xml" Id="R736258b03a354a26" /><Relationship Type="http://schemas.openxmlformats.org/officeDocument/2006/relationships/slide" Target="/ppt/slides/slide7.xml" Id="R2c716486ab604345" /><Relationship Type="http://schemas.openxmlformats.org/officeDocument/2006/relationships/slide" Target="/ppt/slides/slide8.xml" Id="Rb0ab7d51b3be4d41" /><Relationship Type="http://schemas.openxmlformats.org/officeDocument/2006/relationships/slide" Target="/ppt/slides/slide9.xml" Id="Refe282fd750c4665" /><Relationship Type="http://schemas.openxmlformats.org/officeDocument/2006/relationships/slide" Target="/ppt/slides/slide10.xml" Id="R48375ad593a045cc" /><Relationship Type="http://schemas.openxmlformats.org/officeDocument/2006/relationships/slide" Target="/ppt/slides/slide11.xml" Id="R808db2d579434cf8" /><Relationship Type="http://schemas.openxmlformats.org/officeDocument/2006/relationships/slide" Target="/ppt/slides/slide12.xml" Id="R6d00be75451a4dbd" /><Relationship Type="http://schemas.openxmlformats.org/officeDocument/2006/relationships/slide" Target="/ppt/slides/slide13.xml" Id="R1e53c09cc9fc47f9" /><Relationship Type="http://schemas.openxmlformats.org/officeDocument/2006/relationships/slide" Target="/ppt/slides/slide14.xml" Id="Rbc46382d145243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e2222cc984f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25afa094724e66" /><Relationship Type="http://schemas.openxmlformats.org/officeDocument/2006/relationships/notesMaster" Target="/ppt/notesMasters/notesMaster1.xml" Id="Rdcf9d0d334c4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b1b6e454a24dca" /><Relationship Type="http://schemas.openxmlformats.org/officeDocument/2006/relationships/notesMaster" Target="/ppt/notesMasters/notesMaster1.xml" Id="Rbcaa0df7fd5f47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75bce40ece4f1b" /><Relationship Type="http://schemas.openxmlformats.org/officeDocument/2006/relationships/notesMaster" Target="/ppt/notesMasters/notesMaster1.xml" Id="Re1026debf8c34b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ee84a716f347a5" /><Relationship Type="http://schemas.openxmlformats.org/officeDocument/2006/relationships/notesMaster" Target="/ppt/notesMasters/notesMaster1.xml" Id="R2f7b89ffee4e4c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2fa07531d34805" /><Relationship Type="http://schemas.openxmlformats.org/officeDocument/2006/relationships/notesMaster" Target="/ppt/notesMasters/notesMaster1.xml" Id="R1015e027c67f46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5dd7a3cf6542eb" /><Relationship Type="http://schemas.openxmlformats.org/officeDocument/2006/relationships/notesMaster" Target="/ppt/notesMasters/notesMaster1.xml" Id="R8b802ef0ad6141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e4739c50394af6" /><Relationship Type="http://schemas.openxmlformats.org/officeDocument/2006/relationships/notesMaster" Target="/ppt/notesMasters/notesMaster1.xml" Id="R012ef09e7cf848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98adc7511f419e" /><Relationship Type="http://schemas.openxmlformats.org/officeDocument/2006/relationships/notesMaster" Target="/ppt/notesMasters/notesMaster1.xml" Id="R9ec41b9c0c654d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f09471f9064a0a" /><Relationship Type="http://schemas.openxmlformats.org/officeDocument/2006/relationships/notesMaster" Target="/ppt/notesMasters/notesMaster1.xml" Id="Rb5cc01c9f9c14b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74de24f75149a7" /><Relationship Type="http://schemas.openxmlformats.org/officeDocument/2006/relationships/notesMaster" Target="/ppt/notesMasters/notesMaster1.xml" Id="R4568d762350841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7d04264dd4494d" /><Relationship Type="http://schemas.openxmlformats.org/officeDocument/2006/relationships/notesMaster" Target="/ppt/notesMasters/notesMaster1.xml" Id="Rcfc21fbba4bf4e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75d3cc6c0a4514" /><Relationship Type="http://schemas.openxmlformats.org/officeDocument/2006/relationships/notesMaster" Target="/ppt/notesMasters/notesMaster1.xml" Id="R51bc4a33c1534c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cb8f330ea24041" /><Relationship Type="http://schemas.openxmlformats.org/officeDocument/2006/relationships/notesMaster" Target="/ppt/notesMasters/notesMaster1.xml" Id="Rce6afaff810f4a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c92bf22a5943f0" /><Relationship Type="http://schemas.openxmlformats.org/officeDocument/2006/relationships/notesMaster" Target="/ppt/notesMasters/notesMaster1.xml" Id="R6419f6bdcfb34e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presentation for the completed ten-phase Tenant Trust prototype and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gap between point-in-time identity and changing risk. The project contribution is an evaluated integration, not a new cryptographic or ledger primitive.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layers. Raw evidence stays off-chain and Fabric submission stays outside the request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numbered path. Emphasize that terminal certificate feedback records one trust effect and cannot trigger another certificate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workload is immutable across modes. Unsupported controls stay in the denominator as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ten scenario families. Device and compliance signals are synthetic and the host is a single workstation.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ten phases and all 100 tracked tasks are complete. Each phase has an executable verification gate and evidence in the task tracker.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the architecture to the repository. The release documentation links every major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 remains deterministic and explainable. The alpha 0.30 smoothing ablation shows both noise suppression and delayed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trust band is an input, not an authorization result. OPA combines it with certificate, tenant, role, resource and request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durable action state machine, idempotent retries, governed recovery and asynchronous Fabric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Perfect adaptive-mode results apply only to the closed deterministic catalog. The narrower baselines do not implement several measured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request latency separate from Fabric commit delay. Baseline B begins after the trusted mTLS adapter result and is not TLS throughput.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completed release package, reproducible gates and explicit external-validity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1e00e1868405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87e55a40704081" /><Relationship Type="http://schemas.openxmlformats.org/officeDocument/2006/relationships/slideLayout" Target="/ppt/slideLayouts/slideLayout1.xml" Id="Reeaa95ac53eb488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aa95ac53eb488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353b97b54403a" /><Relationship Type="http://schemas.openxmlformats.org/officeDocument/2006/relationships/notesSlide" Target="/ppt/notesSlides/notesSlide1.xml" Id="R4875857c0a7d46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5ec612c494bff" /><Relationship Type="http://schemas.openxmlformats.org/officeDocument/2006/relationships/notesSlide" Target="/ppt/notesSlides/notesSlide2.xml" Id="Re2c1e3fa83f3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f85f36e7344c0" /><Relationship Type="http://schemas.openxmlformats.org/officeDocument/2006/relationships/notesSlide" Target="/ppt/notesSlides/notesSlide3.xml" Id="Ra38b992c396646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8e3f195dd4a04" /><Relationship Type="http://schemas.openxmlformats.org/officeDocument/2006/relationships/notesSlide" Target="/ppt/notesSlides/notesSlide4.xml" Id="R136a43de897c47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9e441fb084c3c" /><Relationship Type="http://schemas.openxmlformats.org/officeDocument/2006/relationships/notesSlide" Target="/ppt/notesSlides/notesSlide5.xml" Id="R1debb83eacfe4b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b16a71b4d4894" /><Relationship Type="http://schemas.openxmlformats.org/officeDocument/2006/relationships/notesSlide" Target="/ppt/notesSlides/notesSlide6.xml" Id="R94f3a3626d7848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259d4525d42f1" /><Relationship Type="http://schemas.openxmlformats.org/officeDocument/2006/relationships/notesSlide" Target="/ppt/notesSlides/notesSlide7.xml" Id="R4545d078fee449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0509e9cef4ac9" /><Relationship Type="http://schemas.openxmlformats.org/officeDocument/2006/relationships/notesSlide" Target="/ppt/notesSlides/notesSlide8.xml" Id="Rd1e6985555964f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2fa4c6c464ae2" /><Relationship Type="http://schemas.openxmlformats.org/officeDocument/2006/relationships/notesSlide" Target="/ppt/notesSlides/notesSlide9.xml" Id="Rf87349436ba644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14e96fb4f4a8c" /><Relationship Type="http://schemas.openxmlformats.org/officeDocument/2006/relationships/notesSlide" Target="/ppt/notesSlides/notesSlide10.xml" Id="R1995c3a753434d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5a7da269e4212" /><Relationship Type="http://schemas.openxmlformats.org/officeDocument/2006/relationships/notesSlide" Target="/ppt/notesSlides/notesSlide11.xml" Id="R680bbb17224a40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a61af774447ab" /><Relationship Type="http://schemas.openxmlformats.org/officeDocument/2006/relationships/notesSlide" Target="/ppt/notesSlides/notesSlide12.xml" Id="R212c68cccd704c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3c719d6bc4c67" /><Relationship Type="http://schemas.openxmlformats.org/officeDocument/2006/relationships/notesSlide" Target="/ppt/notesSlides/notesSlide13.xml" Id="Rb09bce33df2d4c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9692ad86d4d8f" /><Relationship Type="http://schemas.openxmlformats.org/officeDocument/2006/relationships/notesSlide" Target="/ppt/notesSlides/notesSlide14.xml" Id="R961f0bbf5b9f4a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36C0FB-4CB4-498B-9B7C-EF62E06C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2920" y="-426720"/>
            <a:ext cx="6995159" cy="6827520"/>
          </a:xfrm>
          <a:prstGeom xmlns:a="http://schemas.openxmlformats.org/drawingml/2006/main" prst="roundRect">
            <a:avLst>
              <a:gd name="adj" fmla="val 5495"/>
            </a:avLst>
          </a:prstGeom>
          <a:solidFill xmlns:a="http://schemas.openxmlformats.org/drawingml/2006/main">
            <a:srgbClr val="0A1A30"/>
          </a:solidFill>
          <a:ln xmlns:a="http://schemas.openxmlformats.org/drawingml/2006/main" w="12700">
            <a:solidFill>
              <a:srgbClr val="0A1A3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0DC7D9C-D585-478F-AAF7-25592369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77240"/>
            <a:ext cx="201168" cy="73152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D849BB-4B94-4AD7-AC2C-6F98AC95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786384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4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Final Demonstration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F0855E-AEF1-4A76-BB15-AC0BBCDB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170432"/>
            <a:ext cx="99669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4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Trust-Aware Security Framework for Multi-Tenant SaaS Platforms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04D653D-0C20-4FDA-A141-83F2103E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127248"/>
            <a:ext cx="9509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AFC4DA"/>
                </a:solidFill>
                <a:latin typeface="Calibri"/>
                <a:ea typeface="Calibri"/>
                <a:cs typeface="Calibri"/>
              </a:rPr>
              <a:t>Tenant PKI · Explainable Trust · OPA Authorization · Verifiable Audit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3EA1C7D-BC49-46C0-ACFA-0E8C0AE0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58768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4A4BE2-3264-47E4-B76D-7D0492BC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148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Kkomal Padiya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3777626-2CE9-4DE2-9189-8573E3B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40740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FA6C0"/>
                </a:solidFill>
                <a:latin typeface="Calibri"/>
                <a:ea typeface="Calibri"/>
                <a:cs typeface="Calibri"/>
              </a:rPr>
              <a:t>23BKT0060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7B0A8ED-A389-4BAB-A5AB-14B57C67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1148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Satavisha Pan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A888211-D469-40B0-81A9-C311443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40740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FA6C0"/>
                </a:solidFill>
                <a:latin typeface="Calibri"/>
                <a:ea typeface="Calibri"/>
                <a:cs typeface="Calibri"/>
              </a:rPr>
              <a:t>23BKT0112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C709769-DB7C-44CD-9AE1-AE12E60E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98348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FA6C0"/>
                </a:solidFill>
                <a:latin typeface="Calibri"/>
                <a:ea typeface="Calibri"/>
                <a:cs typeface="Calibri"/>
              </a:rPr>
              <a:t>Final release presentation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0050E5-36DF-4650-96E0-8FFE430A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8523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FA6C0"/>
                </a:solidFill>
                <a:latin typeface="Calibri"/>
                <a:ea typeface="Calibri"/>
                <a:cs typeface="Calibri"/>
              </a:rPr>
              <a:t>Date:  28 October 2026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67585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4E36685-DC70-4988-9521-604A717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520875-F8D5-4C57-8BC2-E0ABD347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PROBLEM AND DELIVERED SYSTEM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5AE45F-3D20-476E-AC62-8FD9EE4A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Research Objective and Outcome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5B6EAED-E78B-4D15-AB3C-71D69A2A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D36B85-CEED-4A71-B361-290A8693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4F4A0A7-C8E9-4D45-89FA-195ED531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9496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1B7AFC-E3D2-425D-8DC1-3DAAF83D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Problem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5944CB-6BCF-4932-81B1-B7D2967F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4800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 valid X.509 certificate proves identity only at the moment of authentication. It does not reflect later changes in device condition, user behaviour or request context.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879620D-6AAA-4E45-B30B-060090FB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FD05D3D-59D7-4B4D-B1B0-39B0EADC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Research objective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9091BC-AC77-4290-9BA8-F00FA450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63440"/>
            <a:ext cx="4800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Implement and evaluate a closed-loop adaptive security framework while preserving certificate validity, tenant isolation and bounded failure behavior.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332E950-0A55-416C-A87F-7FE8F599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71600"/>
            <a:ext cx="5349240" cy="466344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368B00D-7EE1-42CE-8361-53C61B06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Delivered system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14F890B-D535-49A5-98DF-56B59859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48840"/>
            <a:ext cx="480060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Tenant-isolated PKI and certificate lifecycle</a:t>
            </a:r>
            <a:endParaRPr sz="1400"/>
          </a:p>
          <a:p xmlns:a="http://schemas.openxmlformats.org/drawingml/2006/main"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Signed evidence and explainable trust</a:t>
            </a:r>
            <a:endParaRPr sz="1400"/>
          </a:p>
          <a:p xmlns:a="http://schemas.openxmlformats.org/drawingml/2006/main"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Context-aware authorization using OPA</a:t>
            </a:r>
            <a:endParaRPr sz="1400"/>
          </a:p>
          <a:p xmlns:a="http://schemas.openxmlformats.org/drawingml/2006/main"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Idempotent restriction, revocation and recovery</a:t>
            </a:r>
            <a:endParaRPr sz="1400"/>
          </a:p>
          <a:p xmlns:a="http://schemas.openxmlformats.org/drawingml/2006/main"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sz="14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Asynchronous Fabric audit commitments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A1D4FD-EAD6-46D9-83CD-276D663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617720"/>
            <a:ext cx="4709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900AD50-25E6-4331-A663-78BC376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00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Evaluated contribution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6D36457-5ACD-4146-9D2F-DE7101E1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38928"/>
            <a:ext cx="4800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A reproducible integration of established mechanisms, measured against two narrower baselines on one closed workload catalog.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256780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3BE060-ADEF-4864-827E-D8C225F6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0358FC-D18D-449C-B4A7-E1E41F4D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LAYERED DESIGN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7305A36-A551-43AA-AF61-55611B55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System Architecture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1D86F8D-E134-4F08-88DD-3C87D817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20C928B-8DF1-4AC5-B8BE-8DCDB58D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C2C62D2-4516-4EFE-81CA-DD03F525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139696" cy="324612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6B66325-5D91-411D-8490-F809356D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2139696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170B307-19A6-4B79-84E2-57150ECF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444752"/>
            <a:ext cx="184708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 and dashboard layer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AC75F9A-4AEE-4108-AB82-E1CCFFE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39696"/>
            <a:ext cx="182880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Tenant users and administrators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React + Vite dashboard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Certificate, trust and audit views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39FB7B-F607-4F6A-9652-31F830F5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371600"/>
            <a:ext cx="2139696" cy="324612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B859C74-30B2-41B6-85ED-3AFDD865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371600"/>
            <a:ext cx="2139696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2C81849-E201-4A62-A273-0FFA68CC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1444752"/>
            <a:ext cx="184708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SaaS API layer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A6920CE-2764-46E4-B8D4-7BF78E17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9696"/>
            <a:ext cx="182880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TypeScript + Fastify API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mTLS-protected endpoints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Tenant and subject management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Protected profile, record and export operations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FAF5906-AF99-4808-94CA-3DEAC04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1371600"/>
            <a:ext cx="2139696" cy="324612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21196FF-6573-4D36-8730-FECB6FC4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1371600"/>
            <a:ext cx="2139696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97B22"/>
          </a:solidFill>
          <a:ln xmlns:a="http://schemas.openxmlformats.org/drawingml/2006/main" w="12700">
            <a:solidFill>
              <a:srgbClr val="C97B2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660847E-7C5C-40D2-BBAC-476AACB2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444752"/>
            <a:ext cx="184708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Security processing layer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F26AEA0-636D-40D5-BC96-7214B715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2139696"/>
            <a:ext cx="182880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Certificate validator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Signed evidence processor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Adaptive trust engine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OPA policy engine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Security-action orchestrator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Audit-delivery service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7480379-ADEC-480A-AD11-E15F0034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1371600"/>
            <a:ext cx="2139696" cy="324612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DA500C3-BC18-4165-8FA2-80B070E3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1371600"/>
            <a:ext cx="2139696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75F47DE-CBA2-4FA6-90F4-0BA5ED1B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444752"/>
            <a:ext cx="184708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and messaging layer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95FB9A0-2807-453B-8DE0-75753A8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2139696"/>
            <a:ext cx="182880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PostgreSQL: persistent state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Redis: trust and session state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NATS JetStream: event delivery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step-ca: tenant certificate services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5A99B32-E00C-4007-95A9-AA5EEECA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1371600"/>
            <a:ext cx="2139696" cy="324612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2127F49-24A5-44BB-9CC5-374076AF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1371600"/>
            <a:ext cx="2139696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0C6B325-2F63-4FB7-A8A6-F31870FA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444752"/>
            <a:ext cx="184708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 layer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D461D7F-1AEE-4929-A0C3-88171457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2139696"/>
            <a:ext cx="1828800" cy="2331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Hyperledger Fabric commitments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Raw evidence stays off-chain</a:t>
            </a:r>
            <a:endParaRPr sz="1050"/>
          </a:p>
          <a:p xmlns:a="http://schemas.openxmlformats.org/drawingml/2006/main">
            <a:pPr marL="177800" indent="-1778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Asynchronous ledger submission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5A7756F-33F6-43A4-AFDD-F3A3D4BA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64608"/>
            <a:ext cx="11082528" cy="1170432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6CF79B7-6203-4BA4-B4F5-8D6677DE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4748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Release deployment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BF2F771-E455-479A-A281-201B7A9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58384"/>
            <a:ext cx="10424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The release runs on one workstation. Services remain logically separated, while Docker Desktop supplies the data, policy, certificate, messaging and ledger infrastructure.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474939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66D5B5-EA59-4FF5-9BF7-4ADD2E2D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896029-DEC6-4B63-8C65-2DAE6BB1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THE CLOSED LOOP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7964B0-52D5-4E89-864D-50D3A983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Workflow and Data Flow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1F73C18-1B4C-41FD-96F5-D9BD6A2F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4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34D50-3F8A-4A2D-BCE6-53667CEC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4A72F30-E3AE-47FE-AF0E-220A2DCF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26464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CB89B7F-C1F6-48F4-BBF0-C3885162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4018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3DEF9FC-25EB-43F7-B42F-EDABA5AE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1389888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Client sends an API request with a tenant-specific certificate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882207D-EEB7-4177-AEAE-DACBBE29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848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38542E5-4BBB-42D9-AEE0-F049CC62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26564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48EF802-EF4C-46A8-9B99-164C01EB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176272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API gateway completes the mTLS handshake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ADD8A8B-56AA-41E9-BB13-89F2A98C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9923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E4B4824-D606-404D-9628-84DD4625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12948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935A3BC-9AA1-45CB-855D-19DE4D5F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962656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Certificate service verifies chain, issuer, expiry, revocation and tenant binding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CDD6A64-432D-4176-B2D6-EFD2D4FF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85616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B6D81FF-66A5-4E16-A49E-0ACD191A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9332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B626D66-02AD-4D07-A6AA-8E28967C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749040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Tenant is derived from the certificate, never from a client-supplied ID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3FF0C11-1890-4ACB-87FA-44553F91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426464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037CA89-9B4A-4032-A450-772E15B7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44018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A54AD9-D5BA-4002-8A64-F39F8B4C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89888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Evidence service processes signed device, behaviour and context events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7D316B5-5D9E-40A4-B088-F6FD8EC9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212848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0402863-6FEF-4EF7-B8B4-6D9F4319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226564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1E25FE-2201-4B02-B8DA-43253684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176272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Trust engine calculates the current trust score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40E3E00-FE4C-42C8-8CEB-44FC3147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99923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7106517-4876-4001-A545-DDF6F471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012948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AFCB762-FE1C-443A-A85B-7E123A38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962656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OPA evaluates certificate, tenant, role, score, resource and operation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A1243F6-C1C6-4157-96D3-78BCF787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785616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162137C-D052-40D1-988A-A15E1C8C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799332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196B948-E785-4D68-8299-74083725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749040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Policy engine returns ALLOW, STEP_UP, DENY or QUARANTINE</a:t>
            </a:r>
            <a:endParaRPr sz="11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BCBAC1A-52D8-4EE3-967F-D11ADC32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26464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2097C66-BC53-450A-92BD-A4D6E8F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4018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B5D46E9-A2E8-40F5-90D7-90A6A23F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389888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Decision is enforced and the security event recorded</a:t>
            </a:r>
            <a:endParaRPr sz="11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513D723-77ED-4357-973B-7C5040D9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212848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37294C1-91DC-49B0-BDB2-E2DED747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226564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561192D-0F70-4F91-85BA-F69F573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76272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Severe, corroborated events may suspend or revoke the certificate</a:t>
            </a:r>
            <a:endParaRPr sz="11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6359845-10B2-4A87-9A72-3F6C938D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99923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50C04112-9F07-4430-A239-D104F77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012948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  <a:endParaRPr sz="11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386D11F-8758-4F81-BC37-95B90AE7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962656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The outcome becomes new evidence for future trust calculations</a:t>
            </a:r>
            <a:endParaRPr sz="11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01D6561-7584-49E2-AC17-1C964B53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785616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BD36070-B622-4B35-B7C3-9FE4BF5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799332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  <a:endParaRPr sz="11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81749D5-F7B7-4F2B-9536-D081A4D7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749040"/>
            <a:ext cx="306324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5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Selected event hashes are submitted asynchronously to Fabric</a:t>
            </a:r>
            <a:endParaRPr sz="11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545A994-44B7-46DF-9A90-73AAF642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7296912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3427DD6-291E-450C-912F-53FB9E4C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Policy decision outcomes</a:t>
            </a:r>
            <a:endParaRPr sz="140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48C7AFA-179C-4302-8C60-003B424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85232"/>
            <a:ext cx="1572768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E7CD8531-4F41-4458-A346-692C786E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85232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ALLOW</a:t>
            </a:r>
            <a:endParaRPr sz="12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7EF2FBB8-D21D-48A5-A674-BE0D604C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85232"/>
            <a:ext cx="1572768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E7CB1"/>
          </a:solidFill>
          <a:ln xmlns:a="http://schemas.openxmlformats.org/drawingml/2006/main" w="12700">
            <a:solidFill>
              <a:srgbClr val="3E7CB1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3FDC5C3-3F43-4500-8125-0DCAFE3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85232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STEP_UP</a:t>
            </a:r>
            <a:endParaRPr sz="120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7C684E52-F22A-4152-B073-40508C96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285232"/>
            <a:ext cx="1572768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97B22"/>
          </a:solidFill>
          <a:ln xmlns:a="http://schemas.openxmlformats.org/drawingml/2006/main" w="12700">
            <a:solidFill>
              <a:srgbClr val="C97B22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0D7BD86A-4D30-4F21-A710-3BEFED62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285232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DENY</a:t>
            </a:r>
            <a:endParaRPr sz="120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853D1049-1071-4536-9B3B-210C5AE5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285232"/>
            <a:ext cx="1572768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A83C3C"/>
          </a:solidFill>
          <a:ln xmlns:a="http://schemas.openxmlformats.org/drawingml/2006/main" w="12700">
            <a:solidFill>
              <a:srgbClr val="A83C3C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F82A53A-04F6-46E3-BFD8-E173D72B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285232"/>
            <a:ext cx="157276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QUARANTINE</a:t>
            </a:r>
            <a:endParaRPr sz="120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3F38B9B6-6B76-47BC-8932-EB36EECC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4754880"/>
            <a:ext cx="3529584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49BAA9A6-A520-445D-9E59-FB370B9F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93776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Why it is a loop</a:t>
            </a:r>
            <a:endParaRPr sz="14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D5075E6C-023D-43AE-B3D1-0E4BB9A0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5248656"/>
            <a:ext cx="3017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Certificate actions and policy outcomes return to the engine as future trust evidence.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2038224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7BB928-6364-4443-B9F0-83025521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6AB040-4BC8-48BF-BB32-2982186B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FIXED SYNTHETIC CATALOG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C59F10-FF80-4A85-863F-35F15AA0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Evaluation Workload and Fields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DB3813-5C82-4AEF-97C3-5646E85A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5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661348-1909-432E-BDC1-B89DC2D5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41C6834-EB10-4FF0-A455-C72D93A7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94960" cy="214884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A40BBC2-7113-4BC1-9FC3-932F6CF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91056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Catalog design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E0B58CA-FE88-4F37-8535-68E8729C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0240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 deterministic synthetic catalog replays the same tenant, identity, resource and attack conditions through all three comparison modes.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1877E0-F3C5-49E8-ACA6-D220F0AA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42032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The catalog measures implemented capability boundaries. It does not estimate real attack prevalence or production effectiveness.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2600DB8-E3F9-4DC1-B9E3-693A98DF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39496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D87F7B5-9C14-4DDD-BDB0-97564194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1363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Reference environment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5CBB96C-2CB2-42DD-8086-7AD8FB99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61104"/>
            <a:ext cx="4800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Tenant Alpha and Tenant Beta</a:t>
            </a:r>
            <a:endParaRPr sz="1200"/>
          </a:p>
          <a:p xmlns:a="http://schemas.openxmlformats.org/drawingml/2006/main">
            <a:pPr marL="177800" indent="-1778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Separate issuers, resources and security state</a:t>
            </a:r>
            <a:endParaRPr sz="1200"/>
          </a:p>
          <a:p xmlns:a="http://schemas.openxmlformats.org/drawingml/2006/main">
            <a:pPr marL="177800" indent="-1778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Member and administrator personas in each tenant</a:t>
            </a:r>
            <a:endParaRPr sz="1200"/>
          </a:p>
          <a:p xmlns:a="http://schemas.openxmlformats.org/drawingml/2006/main">
            <a:pPr marL="177800" indent="-1778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Fixed normal, attack and recovery labels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46FB930-9D71-436A-9F17-3202E8B8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71600"/>
            <a:ext cx="5349240" cy="452628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79C1C7-371C-4055-8315-FFAC490E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591056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Recorded observation fields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99589AF-B1F9-4D4C-B404-008C471B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075688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AC85108-608B-4AF6-A8B6-B859B652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975104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Timestamp and run ID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8236B96-0420-4753-83DA-30C205A1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075688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3299CC2-E6F2-4110-9C39-FEF58B95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1975104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Tenant and subject ID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403C2CC-A171-45CE-98F1-9BBD1A20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400300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53AE37-6BDD-4EC7-94ED-D03B06CA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99716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Mode and scenario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6FB657-72B5-43C5-98A1-D35AFD5A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400300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CB18D7B-2664-42C5-B0A5-5FBE4265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299716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Concurrent lane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792B7A9-D225-4F5B-A003-3294418A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24912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D42606-03E7-4772-AA1B-AECC45F7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624328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Certificate state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5286409-32A6-4429-8709-3BC9E8DA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724912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FF778AD-30B3-41BA-81CF-1CFCBA59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624328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Evidence source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ECCD991-17AA-4E63-BF04-D4204BF1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49524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7985EFD-4659-4FD2-9047-F3FCB0DA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94894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Requested action</a:t>
            </a:r>
            <a:endParaRPr sz="11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3240AE2-C981-4074-BFF7-4A832889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049524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E8498A7-A362-44A7-A8EA-912054F7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94894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Resource sensitivity</a:t>
            </a:r>
            <a:endParaRPr sz="11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46F59DF-9374-47B7-97DC-2C8EFE1B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74136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4D99B96-1987-426D-A1CD-2B19C72E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273552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Expected control</a:t>
            </a:r>
            <a:endParaRPr sz="11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FAA0E86-6BE5-4A26-9234-A3FE905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374136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EF7E56B-BD44-4892-93E2-C235A2F5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3273552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Observed outcome</a:t>
            </a:r>
            <a:endParaRPr sz="11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D0DE606-8656-4C9E-9C69-357D9EB4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98748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4804C5C-D02F-4A2E-9317-9D797356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598164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Trust score and band</a:t>
            </a:r>
            <a:endParaRPr sz="11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1832FB1-6D2D-4305-AD8F-214BEB68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698748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19414A1-37B7-4D44-9855-6852A8F0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3598164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Policy decision</a:t>
            </a:r>
            <a:endParaRPr sz="11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3F741386-BB4E-4F8F-82D6-CD1F5A7F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023360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5CBC574-8915-47D2-B551-FEC389D7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922776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Replay result</a:t>
            </a:r>
            <a:endParaRPr sz="11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35B9F78F-4DE7-40A9-BA98-BC0FFB4E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023360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8ED1A6E-B3CF-4586-ACB7-213C01ED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3922776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Isolation result</a:t>
            </a:r>
            <a:endParaRPr sz="110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795BB51-198D-4BA6-8FF2-7BF1F851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347972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4BBB3CDC-EB3B-4C2F-A447-13970DCC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47388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Certificate action</a:t>
            </a:r>
            <a:endParaRPr sz="110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15391305-7DD7-4455-B60E-E491A407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347972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68D92D26-0804-4755-B2B7-6C75413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4247388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Audit verification</a:t>
            </a:r>
            <a:endParaRPr sz="11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0B69EBC4-EBE3-4B21-82C5-3CC96A62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672584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052FB92A-44BE-4C08-AEA5-1BB55B8F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57200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Ledger delivery</a:t>
            </a:r>
            <a:endParaRPr sz="110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32BF8B90-9A1D-452F-8E64-B4A4526D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672584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713DE422-5853-4D60-B64B-E51D3F2C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457200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Stage latency</a:t>
            </a:r>
            <a:endParaRPr sz="110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95ED1D8C-800B-4212-99E2-6DBE86F6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997196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1666A3AB-6EA0-49A9-8134-DB343004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896612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End-to-end latency</a:t>
            </a:r>
            <a:endParaRPr sz="110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647BC3E6-09E5-4C36-9A60-0B12ADFC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4997196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CDAEF220-B18D-40F3-92DE-36479E92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4896612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Failure category</a:t>
            </a:r>
            <a:endParaRPr sz="110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113883DB-4F4D-4ADC-B6C8-15D66DF1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321808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F609E5F8-2AAC-474E-B535-85B0FF2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221224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Model version</a:t>
            </a:r>
            <a:endParaRPr sz="110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3A7B49B0-A7DA-4BB0-8C15-155B8E40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5321808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E2B47F3C-77EA-4D3C-8C8C-EC8ACB67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5221224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Policy version</a:t>
            </a:r>
            <a:endParaRPr sz="110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D6A29458-9034-402F-8D59-D1010C7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646420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2E644964-6CBB-4341-8514-FED2B008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545836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Configuration hash</a:t>
            </a:r>
            <a:endParaRPr sz="110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3EB03F4D-A2FF-44B6-9A66-ED28E5AD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5646420"/>
            <a:ext cx="82296" cy="82296"/>
          </a:xfrm>
          <a:prstGeom xmlns:a="http://schemas.openxmlformats.org/drawingml/2006/main" prst="roundRect">
            <a:avLst>
              <a:gd name="adj" fmla="val 55555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4D677A21-4E98-4C68-B234-71F22C5B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5545836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Ground-truth label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89783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84D3C0-0300-40AC-AF3B-1B68F55B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0F4F7BE-9E52-4579-BE3F-B448C393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MEASURED SCENARIOS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9A9532-7568-4035-8B52-E5CEBBB9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Evaluation Catalog and Boundaries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D2F6014-2A36-4856-9D83-C9B0D26B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6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2DB7AF-007A-4E3E-92EF-710F5CE5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3A67050-C187-4544-894E-000489EE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02736" cy="969264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A2A4B08-010C-4B09-AA4A-6579FF6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645920"/>
            <a:ext cx="164592" cy="164592"/>
          </a:xfrm>
          <a:prstGeom xmlns:a="http://schemas.openxmlformats.org/drawingml/2006/main" prst="roundRect">
            <a:avLst>
              <a:gd name="adj" fmla="val 277778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381D0FE-CC39-4546-85F0-3CCB4E14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554480"/>
            <a:ext cx="2871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Normal legitimate access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3C42F76-50F9-45D3-8C33-36F8E52E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828800"/>
            <a:ext cx="28712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Baseline traffic across both tenants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02C67B5-EBA7-4024-B1BC-BEF3B7B2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108" y="1371600"/>
            <a:ext cx="3602736" cy="969264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1FCD927-B3A2-496A-BF3B-C50AC9A8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564" y="1645920"/>
            <a:ext cx="164592" cy="164592"/>
          </a:xfrm>
          <a:prstGeom xmlns:a="http://schemas.openxmlformats.org/drawingml/2006/main" prst="roundRect">
            <a:avLst>
              <a:gd name="adj" fmla="val 277778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3DFB61-089D-48BE-AD85-93AE64FC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1554480"/>
            <a:ext cx="2871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Valid certificate, unknown device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ACCBEE-9C2B-4776-B979-4FB9DA81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1828800"/>
            <a:ext cx="28712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Identity holds, device trust drops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B4490C4-B4B6-4BA8-824E-D71E1288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6" y="1371600"/>
            <a:ext cx="3602736" cy="969264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F6E6221-3404-4C94-87DF-8D5796BC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645920"/>
            <a:ext cx="164592" cy="164592"/>
          </a:xfrm>
          <a:prstGeom xmlns:a="http://schemas.openxmlformats.org/drawingml/2006/main" prst="roundRect">
            <a:avLst>
              <a:gd name="adj" fmla="val 277778"/>
            </a:avLst>
          </a:prstGeom>
          <a:solidFill xmlns:a="http://schemas.openxmlformats.org/drawingml/2006/main">
            <a:srgbClr val="C97B22"/>
          </a:solidFill>
          <a:ln xmlns:a="http://schemas.openxmlformats.org/drawingml/2006/main" w="12700">
            <a:solidFill>
              <a:srgbClr val="C97B2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56529A1-69C7-4DBE-806F-ECE71D1D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554480"/>
            <a:ext cx="2871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Failed logins then sensitive export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E2D8217-8C9D-4CF7-9D6A-23D99B41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828800"/>
            <a:ext cx="28712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Behaviour decay before a high-value action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FA0CB94-F9A8-4E94-8317-53A7D202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05456"/>
            <a:ext cx="3602736" cy="969264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0EF635C-9DF5-42E8-9C4F-786DC732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79776"/>
            <a:ext cx="164592" cy="164592"/>
          </a:xfrm>
          <a:prstGeom xmlns:a="http://schemas.openxmlformats.org/drawingml/2006/main" prst="roundRect">
            <a:avLst>
              <a:gd name="adj" fmla="val 277778"/>
            </a:avLst>
          </a:prstGeom>
          <a:solidFill xmlns:a="http://schemas.openxmlformats.org/drawingml/2006/main">
            <a:srgbClr val="C97B22"/>
          </a:solidFill>
          <a:ln xmlns:a="http://schemas.openxmlformats.org/drawingml/2006/main" w="12700">
            <a:solidFill>
              <a:srgbClr val="C97B2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6F2BF82-D6FD-4D11-B083-85EC2755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688336"/>
            <a:ext cx="2871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Certificate or evidence replay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E346692-B046-4374-8099-73E9A334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962656"/>
            <a:ext cx="28712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Stale and duplicated event submission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B2A2861-7952-46FB-9B32-78AF1BC3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108" y="2505456"/>
            <a:ext cx="3602736" cy="969264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6D5205C-0E65-4C59-AD63-BD660DBE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564" y="2779776"/>
            <a:ext cx="164592" cy="164592"/>
          </a:xfrm>
          <a:prstGeom xmlns:a="http://schemas.openxmlformats.org/drawingml/2006/main" prst="roundRect">
            <a:avLst>
              <a:gd name="adj" fmla="val 277778"/>
            </a:avLst>
          </a:prstGeom>
          <a:solidFill xmlns:a="http://schemas.openxmlformats.org/drawingml/2006/main">
            <a:srgbClr val="A83C3C"/>
          </a:solidFill>
          <a:ln xmlns:a="http://schemas.openxmlformats.org/drawingml/2006/main" w="12700">
            <a:solidFill>
              <a:srgbClr val="A83C3C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DB87354-DBF8-457D-86CC-8E966C6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2688336"/>
            <a:ext cx="2871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Cross-tenant access attempt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5A3D0F2-6BA9-4074-8D8B-482E6827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2962656"/>
            <a:ext cx="28712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tenant-beta certificate against tenant-alpha data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A9BEE09-5CC5-49A5-BB42-4B515055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6" y="2505456"/>
            <a:ext cx="3602736" cy="969264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4CED664-04EE-4551-86B4-24008C0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779776"/>
            <a:ext cx="164592" cy="164592"/>
          </a:xfrm>
          <a:prstGeom xmlns:a="http://schemas.openxmlformats.org/drawingml/2006/main" prst="roundRect">
            <a:avLst>
              <a:gd name="adj" fmla="val 277778"/>
            </a:avLst>
          </a:prstGeom>
          <a:solidFill xmlns:a="http://schemas.openxmlformats.org/drawingml/2006/main">
            <a:srgbClr val="A83C3C"/>
          </a:solidFill>
          <a:ln xmlns:a="http://schemas.openxmlformats.org/drawingml/2006/main" w="12700">
            <a:solidFill>
              <a:srgbClr val="A83C3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523D4E6-CEA1-42D3-9443-BD12D223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688336"/>
            <a:ext cx="2871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Evidence flooding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ACFB68B-73BA-40FC-9C06-B4028057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962656"/>
            <a:ext cx="28712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High-rate evidence to distort the score</a:t>
            </a:r>
            <a:endParaRPr sz="10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FDB4B76-6338-4CC4-B56A-79B166E8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39312"/>
            <a:ext cx="3602736" cy="969264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DB727CA-250D-4B07-A944-9D2950E0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13632"/>
            <a:ext cx="164592" cy="164592"/>
          </a:xfrm>
          <a:prstGeom xmlns:a="http://schemas.openxmlformats.org/drawingml/2006/main" prst="roundRect">
            <a:avLst>
              <a:gd name="adj" fmla="val 277778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7FE915D-0D1B-4701-980A-787EE161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822192"/>
            <a:ext cx="2871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Policy modification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CD3F5E9-73F1-47AF-B707-3C9C938D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96512"/>
            <a:ext cx="28712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Policy version change during operation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224E972-F42B-4183-AEAE-2741E016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108" y="3639312"/>
            <a:ext cx="3602736" cy="969264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2B91FD3-2D45-4996-8FE8-858190CD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564" y="3913632"/>
            <a:ext cx="164592" cy="164592"/>
          </a:xfrm>
          <a:prstGeom xmlns:a="http://schemas.openxmlformats.org/drawingml/2006/main" prst="roundRect">
            <a:avLst>
              <a:gd name="adj" fmla="val 277778"/>
            </a:avLst>
          </a:prstGeom>
          <a:solidFill xmlns:a="http://schemas.openxmlformats.org/drawingml/2006/main">
            <a:srgbClr val="A83C3C"/>
          </a:solidFill>
          <a:ln xmlns:a="http://schemas.openxmlformats.org/drawingml/2006/main" w="12700">
            <a:solidFill>
              <a:srgbClr val="A83C3C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560EF7D-FB32-4355-AB00-D3115ABD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3822192"/>
            <a:ext cx="2871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Off-chain audit-record modification</a:t>
            </a:r>
            <a:endParaRPr sz="12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253131C-C769-4980-AF70-ACDC305B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4096512"/>
            <a:ext cx="28712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Tampering with the PostgreSQL record</a:t>
            </a:r>
            <a:endParaRPr sz="10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B5DB39D-4D15-4188-AFC4-BB88B89E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6" y="3639312"/>
            <a:ext cx="3602736" cy="969264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BA1AB4C-A601-484D-B688-EBB9FD53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3913632"/>
            <a:ext cx="164592" cy="164592"/>
          </a:xfrm>
          <a:prstGeom xmlns:a="http://schemas.openxmlformats.org/drawingml/2006/main" prst="roundRect">
            <a:avLst>
              <a:gd name="adj" fmla="val 277778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550481A-11DF-4D72-BF82-2A939048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822192"/>
            <a:ext cx="2871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Fabric outage and recovery</a:t>
            </a:r>
            <a:endParaRPr sz="12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A16BB3D-24CE-4F2F-9661-9648739D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096512"/>
            <a:ext cx="28712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Ledger unavailable, then catch-up</a:t>
            </a:r>
            <a:endParaRPr sz="10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B6FF35C-D46F-4BD6-8A35-B747341C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28032"/>
            <a:ext cx="5394960" cy="1207008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8B0C5652-0C79-4E73-8397-AE12CBE5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1091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Dataset limitations</a:t>
            </a:r>
            <a:endParaRPr sz="14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BA1EAC70-8E5B-480C-9DA5-BC6F61E5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08"/>
            <a:ext cx="4800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Device and compliance signals are synthetic. They do not represent real hardware attestation or a commercial compliance system.</a:t>
            </a:r>
            <a:endParaRPr sz="120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B8FAC46F-FD06-460C-AD27-DE71321E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828032"/>
            <a:ext cx="5367528" cy="1207008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EEDD"/>
          </a:solidFill>
          <a:ln xmlns:a="http://schemas.openxmlformats.org/drawingml/2006/main" w="12700">
            <a:solidFill>
              <a:srgbClr val="FBEEDD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9B6DA0D-DFBD-4E90-85AC-9A97BA0A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01091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Measured sample plan</a:t>
            </a:r>
            <a:endParaRPr sz="14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61BCA87-9465-4E04-A7DA-7FE7176F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321808"/>
            <a:ext cx="47548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36,900 functional trials across three modes, 3,780 live decisions, 30 Fabric commits and three reversible peer outages.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39703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98FCC2C-CB56-41E1-8EB4-07D618AD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1A7AF0-A2C2-4F87-94AB-0381267E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TEN PHASES COMPLETE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BA4F4B7-6CE6-420B-82FD-1800F64B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Implementation Complete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B9537E-6AA4-493A-B1CA-03093EC5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2A3DF9-31BD-469D-8F0C-5D0FB0F9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B185688-1EB0-438F-BEE2-30029F0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2E9F2"/>
          </a:solidFill>
          <a:ln xmlns:a="http://schemas.openxmlformats.org/drawingml/2006/main" w="12700">
            <a:solidFill>
              <a:srgbClr val="E2E9F2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A4BB593-E642-4525-B4C5-F30D1342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1463040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Repository and Docker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6DBE262-16C0-46EB-9B9C-B09A9A57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1728216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Bootstrap PostgreSQL, Redis, NATS, step-ca and OPA, then document failure behavior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F169977-E073-4B98-AA8B-E6D5CBED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325880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2E9F2"/>
          </a:solidFill>
          <a:ln xmlns:a="http://schemas.openxmlformats.org/drawingml/2006/main" w="12700">
            <a:solidFill>
              <a:srgbClr val="E2E9F2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2F598EF-5E88-471C-A45F-380CD975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463040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Tenant and subject isolation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9B8BA77-E579-476B-BEFF-F8F53D49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728216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Build two demonstration tenants with scoped identities, queries, cache keys and streams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147B438-8241-485D-A859-AE090753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31136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04F8CD6-1A4B-4093-AB05-D2ED5D35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78024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3D260BE-5AF7-41E4-A653-5ABBC6E5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" y="2496312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5BC1B5A-3D0D-4E74-B4E6-F1E11147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2368296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PKI lifecycle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63B77B7-3CA7-467F-A5E9-793DF6D4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2633472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Issue, renew and revoke X.509 certificates through tenant-specific issuers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1245554-EE66-49C8-AA80-952E0AF7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31136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98B21C8-4782-4173-A5C4-CF94EDF4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478024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A2CD38F-EBD3-4EEF-8F7B-CD88A1E0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49174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E123749-31E5-4C63-9A76-D9FBAFF3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368296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mTLS-protected SaaS API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3160D47-FD3E-47F1-940C-21BA388F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633472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Protect operations with certificate, membership, role and resource checks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4889D0B-B7EB-4003-9BAC-5A0BC843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73C3833-0946-4A18-AE01-A00A5A4A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FB04D57-470F-4B2F-81B3-C4158B06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96996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9D3FBC5-2D7C-4DB0-ACF0-FBFDA606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3273552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Signed evidence pipeline</a:t>
            </a:r>
            <a:endParaRPr sz="12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E9A63CD-846F-42ED-9B90-B4FCCD6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3538728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Validate sources, signatures and timestamps, then reject stale or replayed events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A8CC21B-0762-4B2B-97E1-ED27E248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136392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B6A4F1E-7E35-4EDE-911D-8F19A60F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383280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5436EED-969B-45DA-B794-4E757912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396996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0F7B19F-A290-4DAB-9223-578E9489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273552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Adaptive trust engine</a:t>
            </a:r>
            <a:endParaRPr sz="12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5A861FC-776D-447B-A52E-E9C32644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538728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Explainable trust scores with temporal smoothing and context penalties</a:t>
            </a:r>
            <a:endParaRPr sz="10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4DA464FD-1DD4-4D20-8CEE-26BF6ABF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648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E382810-8099-4D5D-92D5-DCEB03C6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88536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AB8131C-29C5-4580-BF47-E39B87AB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02252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949CC59-8CA0-4079-A003-84101CF7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4178808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Context-aware authorization</a:t>
            </a:r>
            <a:endParaRPr sz="12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CCD10F3-D577-4390-ADE2-5BB93666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4443984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Implement and test OPA policies returning allow, step-up, deny or quarantine</a:t>
            </a:r>
            <a:endParaRPr sz="10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75F3F20A-A3AC-4E29-B61C-C7868BA3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041648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45C4521-61BE-4F9F-B846-D33C867B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288536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AFAF6F2-04BF-4B17-BF26-13C92BC8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302252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  <a:endParaRPr sz="11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AD4A3CA6-8EBA-4C56-A6B4-A2B0F524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178808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Hyperledger Fabric audit</a:t>
            </a:r>
            <a:endParaRPr sz="12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8BF29E80-76FA-4F33-BFD0-F4B9C007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443984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Store event commitments with asynchronous delivery and verification</a:t>
            </a:r>
            <a:endParaRPr sz="10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89B7682-7930-40EF-A90A-6897F04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46904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2815832B-2B5B-4E66-BD75-C1FBF42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9379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3A0070FA-419A-4FE3-8E06-E48F6677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07508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  <a:endParaRPr sz="11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AE027A84-7DE9-480F-87A4-66D011D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5084064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Closed-loop certificate actions</a:t>
            </a:r>
            <a:endParaRPr sz="125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C2372FC9-6D62-4601-9C29-DC9FFE7C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5349240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Link trust decisions to restriction, suspension, revocation and controlled recovery</a:t>
            </a:r>
            <a:endParaRPr sz="105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28396C5D-C007-4422-B29B-1490A28A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946904"/>
            <a:ext cx="55046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3DD37C53-6310-4B06-8DD6-CA79A322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519379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E64E340-609C-4FCB-96BB-23FEAD45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5207508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sz="11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47C7C4F-899C-40DD-AE15-24E8F12E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084064"/>
            <a:ext cx="4681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Dashboard and evaluation</a:t>
            </a:r>
            <a:endParaRPr sz="125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E5B6634-2FCE-4733-A8E6-91DCC398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5349240"/>
            <a:ext cx="46817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Tenant dashboards, reproducible comparisons, measured reports and final release package</a:t>
            </a:r>
            <a:endParaRPr sz="1050"/>
          </a:p>
        </p:txBody>
      </p:sp>
      <p:sp>
        <p:nvSpPr>
          <p:cNvPr id="65" name="Shape 16">
            <a:extLst xmlns:a="http://schemas.openxmlformats.org/drawingml/2006/main">
              <a:ext uri="{FF2B5EF4-FFF2-40B4-BE49-F238E27FC236}">
                <a16:creationId xmlns:a16="http://schemas.microsoft.com/office/drawing/2014/main" id="{6E878A58-5F2B-4D85-404D-340D348C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" y="1605280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74533-E987-4975-B8B8-B7699520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108" y="161290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67" name="Shape 16">
            <a:extLst xmlns:a="http://schemas.openxmlformats.org/drawingml/2006/main">
              <a:ext uri="{FF2B5EF4-FFF2-40B4-BE49-F238E27FC236}">
                <a16:creationId xmlns:a16="http://schemas.microsoft.com/office/drawing/2014/main" id="{D9C553A1-C5E3-4EA4-8F8E-15F3D7C6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8191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98040EC-0ABB-4233-B006-EDF81572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16456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81105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9C0DF7-85B9-47B3-B252-6EF7206F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2D08B4-3CE7-46D3-B9DB-3333AC2D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REPOSITORY LAYOUT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8336032-C081-4731-83FF-61282722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Release Code Structure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53EB61-B1D8-4CC2-801A-80DE4D79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1F28928-AC25-44D0-9F3D-886AAFE4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07F7426-382F-45D7-ACA7-7E845326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4892040" cy="466344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65B323-746A-47B2-8F60-59C45663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0200"/>
            <a:ext cx="42976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tenant-trust/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├── apps/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│   ├── api/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│   └── review-demo/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├── services/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│   ├── evidence/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│   ├── trust/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│   ├── orchestrator/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│   └── audit/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├── packages/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├── policies/ and database/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├── infra/ and chaincode/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├── test/ and scripts/</a:t>
            </a:r>
            <a:endParaRPr sz="1000"/>
          </a:p>
          <a:p xmlns:a="http://schemas.openxmlformats.org/drawingml/2006/main">
            <a:pPr marL="0" indent="0">
              <a:lnSpc>
                <a:spcPts val="1260"/>
              </a:lnSpc>
              <a:buNone/>
            </a:pPr>
            <a:r>
              <a:rPr sz="1000">
                <a:solidFill>
                  <a:srgbClr val="CFE0F0"/>
                </a:solidFill>
                <a:latin typeface="Courier New"/>
                <a:ea typeface="Courier New"/>
                <a:cs typeface="Courier New"/>
              </a:rPr>
              <a:t>└── docs/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D793EE2-2B0B-4F6F-A433-751841D1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371600"/>
            <a:ext cx="5870448" cy="466344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66EE542-30F0-46A8-97F9-8693F8E8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91056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Responsibilities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18CA2EC-79BD-4C3C-9DD3-68DBA136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9F8F"/>
                </a:solidFill>
                <a:latin typeface="Courier New"/>
                <a:ea typeface="Courier New"/>
                <a:cs typeface="Courier New"/>
              </a:rPr>
              <a:t>apps/api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4F25124-DED8-4883-AFFF-3CEC8A0A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011680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SaaS operations and request enforcement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20C405-9940-4D78-990F-5870A53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37744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E0ED2A-9116-4800-8B3C-40D7FE1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441448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9F8F"/>
                </a:solidFill>
                <a:latin typeface="Courier New"/>
                <a:ea typeface="Courier New"/>
                <a:cs typeface="Courier New"/>
              </a:rPr>
              <a:t>apps/review-demo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CE33C9-6F80-4B00-97EE-D1A0FB69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441448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Tenant-scoped demonstration views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7F33E9-E268-4A91-A698-21C8DC2A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807208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CE6D4A7-C182-4A0F-A796-38FAF826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871216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9F8F"/>
                </a:solidFill>
                <a:latin typeface="Courier New"/>
                <a:ea typeface="Courier New"/>
                <a:cs typeface="Courier New"/>
              </a:rPr>
              <a:t>services/evidence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6C11131-875C-4C9C-8B36-40C55CE8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871216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Signed validation and storage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3058BC7-40B0-4934-BCC2-DC4A54BD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236976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2632C96-0583-4874-BDDF-EC72BCC6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300984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9F8F"/>
                </a:solidFill>
                <a:latin typeface="Courier New"/>
                <a:ea typeface="Courier New"/>
                <a:cs typeface="Courier New"/>
              </a:rPr>
              <a:t>services/trust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7032E5-FE00-475F-A443-7BE2CB17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300984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Scores, state and explanations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74E30C1-058F-4CD8-9DFD-EA944842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66744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A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9E432EE-3DD5-42D7-A812-8022F176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730752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9F8F"/>
                </a:solidFill>
                <a:latin typeface="Courier New"/>
                <a:ea typeface="Courier New"/>
                <a:cs typeface="Courier New"/>
              </a:rPr>
              <a:t>services/orchestrator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38E20A3-EF54-4FCA-9B9F-CD424478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730752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Actions, invalidation and recovery</a:t>
            </a:r>
            <a:endParaRPr sz="11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4B00A56-543E-49D1-9C9E-B833AD4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096512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02F9F49-1944-4921-8ACA-AC906E91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16052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9F8F"/>
                </a:solidFill>
                <a:latin typeface="Courier New"/>
                <a:ea typeface="Courier New"/>
                <a:cs typeface="Courier New"/>
              </a:rPr>
              <a:t>services/audit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45F9012-1C64-433B-BDC4-D564D9A7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160520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Outbox delivery and verification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A48181A-D613-4117-BD41-66AAC4C8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526280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A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70D5E8F-9ACA-4AC9-82AD-3F773B89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590288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9F8F"/>
                </a:solidFill>
                <a:latin typeface="Courier New"/>
                <a:ea typeface="Courier New"/>
                <a:cs typeface="Courier New"/>
              </a:rPr>
              <a:t>packages/evaluation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277346D-C1E8-4C3F-B837-113FE060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590288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Baselines, workloads and metrics</a:t>
            </a:r>
            <a:endParaRPr sz="11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CE1A853-7314-44BF-8E46-7A78A840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956048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A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36A642E-26E3-4077-B5C7-48876E15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020056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9F8F"/>
                </a:solidFill>
                <a:latin typeface="Courier New"/>
                <a:ea typeface="Courier New"/>
                <a:cs typeface="Courier New"/>
              </a:rPr>
              <a:t>docs and scripts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493CA0F-306E-4FEC-A4DE-C30A867C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5020056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Release guidance and gates</a:t>
            </a:r>
            <a:endParaRPr sz="11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D997365-B21F-4D69-9D2E-6347DF4B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385816"/>
            <a:ext cx="525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EEA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A02B41D-0A2A-49D7-8B5D-BCD818F2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449824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9F8F"/>
                </a:solidFill>
                <a:latin typeface="Courier New"/>
                <a:ea typeface="Courier New"/>
                <a:cs typeface="Courier New"/>
              </a:rPr>
              <a:t>contracts and policies</a:t>
            </a:r>
            <a:endParaRPr sz="10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491820D-1370-4AAF-A086-4A104296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5449824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Versioned schemas and OPA rules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59554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9E6DE8B-AFA4-4CAE-A73D-18A29674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832A88-D433-4486-BA35-6351792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IMPLEMENTED AND VERSIONED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409E8E-145B-4A7D-BE73-B0E2CE00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Trust-Score Algorithm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49C61B9-B85B-4BC1-A222-CF84AB7E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9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78E282-1265-494E-9FAC-B3C788FD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65391CA-AB50-4F47-AD33-51D31A9B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85800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EAFC191-9027-4C37-BCCB-63ECD3B0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72768"/>
            <a:ext cx="6355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</a:t>
            </a:r>
            <a:r>
              <a:rPr sz="1800" baseline="-40000">
                <a:solidFill>
                  <a:srgbClr val="0E9F8F"/>
                </a:solidFill>
                <a:latin typeface="Cambria"/>
                <a:ea typeface="Cambria"/>
                <a:cs typeface="Cambria"/>
              </a:rPr>
              <a:t>raw</a:t>
            </a:r>
            <a:r>
              <a:rPr sz="155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= 0.20 I + 0.25 D + 0.25 B + 0.15 C + 0.15 P − Context Penalty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48590B9-22EC-4822-92BF-14B1E91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1408"/>
            <a:ext cx="6355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</a:t>
            </a:r>
            <a:r>
              <a:rPr sz="1700" baseline="-40000">
                <a:solidFill>
                  <a:srgbClr val="0E9F8F"/>
                </a:solidFill>
                <a:latin typeface="Cambria"/>
                <a:ea typeface="Cambria"/>
                <a:cs typeface="Cambria"/>
              </a:rPr>
              <a:t>t</a:t>
            </a:r>
            <a:r>
              <a:rPr sz="15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 =  α S</a:t>
            </a:r>
            <a:r>
              <a:rPr sz="1500" baseline="-40000">
                <a:solidFill>
                  <a:srgbClr val="0E9F8F"/>
                </a:solidFill>
                <a:latin typeface="Cambria"/>
                <a:ea typeface="Cambria"/>
                <a:cs typeface="Cambria"/>
              </a:rPr>
              <a:t>raw</a:t>
            </a:r>
            <a:r>
              <a:rPr sz="15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 +  (1 − α) S</a:t>
            </a:r>
            <a:r>
              <a:rPr sz="1500" baseline="-40000">
                <a:solidFill>
                  <a:srgbClr val="0E9F8F"/>
                </a:solidFill>
                <a:latin typeface="Cambria"/>
                <a:ea typeface="Cambria"/>
                <a:cs typeface="Cambria"/>
              </a:rPr>
              <a:t>t−1</a:t>
            </a:r>
            <a:r>
              <a:rPr sz="1500" i="1">
                <a:solidFill>
                  <a:srgbClr val="AFC4DA"/>
                </a:solidFill>
                <a:latin typeface="Cambria"/>
                <a:ea typeface="Cambria"/>
                <a:cs typeface="Cambria"/>
              </a:rPr>
              <a:t>        with  α ≈ 0.30</a:t>
            </a:r>
            <a:endParaRPr sz="17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2731535-5A6E-4D8A-99B7-6F594015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6858000" cy="233172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448F165-E057-4505-AEF9-5B3FF234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27248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Trust factors and initial weights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AE55E8A-F1FB-4024-9725-A7211C41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9584"/>
            <a:ext cx="27432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3AE2293-6A01-44BB-A7CB-711390D7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9584"/>
            <a:ext cx="274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A2E2B05-A2D1-4F38-AC71-86C5081E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11296"/>
            <a:ext cx="3383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Identity confidence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DAEC022-9563-4014-8BF6-3B90FDFF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02736"/>
            <a:ext cx="1463040" cy="109728"/>
          </a:xfrm>
          <a:prstGeom xmlns:a="http://schemas.openxmlformats.org/drawingml/2006/main" prst="roundRect">
            <a:avLst>
              <a:gd name="adj" fmla="val 416667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5966DC8-DF24-46F5-8269-3F04ECF1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548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0.20</a:t>
            </a:r>
            <a:endParaRPr sz="1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F3FA34A-E5CA-4CD1-8553-4E190B76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67912"/>
            <a:ext cx="27432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FE22B4F-1D04-4CEC-94A6-97106A11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67912"/>
            <a:ext cx="274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4A91CD1-B7F5-4C02-AEB9-DF7D5450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49624"/>
            <a:ext cx="3383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Device trust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33201BB-375F-44E8-8BE7-A9226643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941064"/>
            <a:ext cx="1828800" cy="109728"/>
          </a:xfrm>
          <a:prstGeom xmlns:a="http://schemas.openxmlformats.org/drawingml/2006/main" prst="roundRect">
            <a:avLst>
              <a:gd name="adj" fmla="val 416667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F612F18-2734-40C2-8CB2-CCF4661F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849624"/>
            <a:ext cx="548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0.25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5DDF63A-B301-4F9B-8904-994FC501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06240"/>
            <a:ext cx="27432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CA2C917-D4B5-46D5-BED0-191482A3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06240"/>
            <a:ext cx="274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7C35A8A-3E82-4BD9-838D-717E0329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187952"/>
            <a:ext cx="3383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Behaviour score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CA427DA-436C-4979-BE75-56B7BB77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279392"/>
            <a:ext cx="1828800" cy="109728"/>
          </a:xfrm>
          <a:prstGeom xmlns:a="http://schemas.openxmlformats.org/drawingml/2006/main" prst="roundRect">
            <a:avLst>
              <a:gd name="adj" fmla="val 416667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310E449-8089-48F5-A55A-B5AE2675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87952"/>
            <a:ext cx="548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0.25</a:t>
            </a:r>
            <a:endParaRPr sz="11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4554659-211B-4FDC-9728-752C2072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44568"/>
            <a:ext cx="27432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656DE1E-2E82-42A3-A626-8029E44B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44568"/>
            <a:ext cx="274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152A184-CFBB-4E76-B92C-9DB0F29A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26280"/>
            <a:ext cx="3383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Certificate health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CD3C831-F3D2-42C0-9DC2-345D72B3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617720"/>
            <a:ext cx="1097280" cy="109728"/>
          </a:xfrm>
          <a:prstGeom xmlns:a="http://schemas.openxmlformats.org/drawingml/2006/main" prst="roundRect">
            <a:avLst>
              <a:gd name="adj" fmla="val 416667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B66A9D8-3C53-4195-9974-94BCAFDC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526280"/>
            <a:ext cx="548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0.15</a:t>
            </a:r>
            <a:endParaRPr sz="11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62C256D-7E92-4CEF-AE48-871268FF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82896"/>
            <a:ext cx="274320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5603E42-3C5B-4985-A39A-8B47F18D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82896"/>
            <a:ext cx="274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E0A1797-FE91-46D2-8FE4-EA2E037B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864608"/>
            <a:ext cx="3383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Compliance and policy context</a:t>
            </a:r>
            <a:endParaRPr sz="12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96A9F51-D801-41BF-AF47-CCFC40B9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956048"/>
            <a:ext cx="1097280" cy="109728"/>
          </a:xfrm>
          <a:prstGeom xmlns:a="http://schemas.openxmlformats.org/drawingml/2006/main" prst="roundRect">
            <a:avLst>
              <a:gd name="adj" fmla="val 416667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0018644-7A07-44DA-B2B7-FA042AE8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864608"/>
            <a:ext cx="548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0.15</a:t>
            </a:r>
            <a:endParaRPr sz="11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48A600DE-EE53-4BFF-A792-77FBA447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371600"/>
            <a:ext cx="3950208" cy="3886200"/>
          </a:xfrm>
          <a:prstGeom xmlns:a="http://schemas.openxmlformats.org/drawingml/2006/main" prst="roundRect">
            <a:avLst>
              <a:gd name="adj" fmla="val 1412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0ADF786-59DF-424E-8C88-683095F5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91056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Calculation process</a:t>
            </a:r>
            <a:endParaRPr sz="14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21F7ED6-9784-4EC8-B9A0-70ABE0E7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339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AAACCA9-F4AC-4E7D-9CC6-C3438FD7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7108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EF0A9A2-F5D8-43D8-9A5D-3BEB383A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975104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Verify the evidence signature</a:t>
            </a:r>
            <a:endParaRPr sz="11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A7D805AC-9A71-46CA-97D7-41DB1D74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95728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381AC315-3EE6-44B4-BB21-DB1A53E9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9444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232666F0-74A5-417E-8CC2-70B0FF5E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37744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Check tenant, source, timestamp and event ID</a:t>
            </a:r>
            <a:endParaRPr sz="110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E9470890-A1F7-458C-9033-029876E8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98064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2BE167DE-C05A-4FB6-9343-A7700509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178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82C64808-825A-481E-94D2-F81D2B68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779776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Reject stale, duplicate or replayed evidence</a:t>
            </a:r>
            <a:endParaRPr sz="11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86D6C3B-20CE-4ACC-B85B-6302D3E7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0812F8FC-EE11-4DB3-B8D4-FAA4967B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4116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C68DC7DD-B92F-4DC0-B461-9E6F0F5C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182112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Calculate the individual trust factors</a:t>
            </a:r>
            <a:endParaRPr sz="110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8CCC7B36-CE93-48AC-AC22-EAB38154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2736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CEDDC6A5-1AF3-4EC9-B36D-2451A96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6452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99471CFE-F64B-4F69-9F71-AEC22C52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584448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Apply penalties for risky context</a:t>
            </a:r>
            <a:endParaRPr sz="110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62BB77B9-B3B5-4EBA-A53B-E039465D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507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21BC292B-C7F4-43AC-96C0-F9D3A062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8788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C8434184-3D2F-445F-B2E7-219E0222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986784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Smooth against the previous score</a:t>
            </a:r>
            <a:endParaRPr sz="110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29DBC5EA-AD71-4E3D-A59B-EEFAF78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7408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2B0B3794-102A-4092-A4D2-23E852F0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1124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815D4AA8-0481-40E3-9D6D-F87DF466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3891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Store the new score and its explanation</a:t>
            </a:r>
            <a:endParaRPr sz="110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61D8D17A-2617-411D-99D7-4F2E9DDA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9744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9BE19B9C-B91B-43AC-9984-9CDE5EEE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2346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  <a:endParaRPr sz="110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52CD4007-F924-4AF0-A896-BA79272C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91456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Publish a versioned trust-update event</a:t>
            </a:r>
            <a:endParaRPr sz="110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EB02CB97-61F8-4CF1-A978-4C25CA6D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82528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EDD"/>
          </a:solidFill>
          <a:ln xmlns:a="http://schemas.openxmlformats.org/drawingml/2006/main" w="12700">
            <a:solidFill>
              <a:srgbClr val="F0D9B8"/>
            </a:solidFill>
            <a:prstDash val="solid"/>
          </a:ln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8A7AF08A-396A-47D6-AE15-224D0B91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59552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Release status:  The formula, smoothing and transition controls are implemented and regression-tested. Initial weights and thresholds remain unvalidated prototype defaults.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8365144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71315A-1586-4283-B3C3-117E15F5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112CA9-6928-4D48-9AEA-CDB9BDFB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TRUST AND AUTHORITY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75B2C9-2E9C-42AF-84F6-F4A25DD1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Trust-Based Authorization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1075309-FF41-4C38-81ED-57AA3DCD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10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E1D1D8-6030-450B-9F65-88CC3BC3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39006BD-A636-426C-BD7E-BB7ABCA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Implemented trust bands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7F5044A-F2A1-4234-97ED-0382071B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667512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61CABC4-48D0-4798-B5F3-9C867C75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3258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78C129A-D36F-4AC7-94CF-D4BBCC63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325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70 – 100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445ED5-EA71-4582-8B59-74D4A985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783080"/>
            <a:ext cx="1554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High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B54B2A9-94E8-4286-82C3-0D600E57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83080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Trusted input for policy evaluation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33C9563-45BA-4B09-B945-5F1E3447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96312"/>
            <a:ext cx="667512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53E359-8F05-4C95-B756-98F41B5B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96312"/>
            <a:ext cx="13258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3E7CB1"/>
          </a:solidFill>
          <a:ln xmlns:a="http://schemas.openxmlformats.org/drawingml/2006/main" w="12700">
            <a:solidFill>
              <a:srgbClr val="3E7CB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456036D-5E2B-4833-831D-D9EFEFB9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96312"/>
            <a:ext cx="1325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 – 69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6F2C4B2-8912-4C87-81BF-0A4B793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542032"/>
            <a:ext cx="1554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Medium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686F664-F16A-40BE-9FA4-259224AC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42032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Conditional input for sensitive operations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0701686-63CC-42B0-A22A-BDDE5637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55264"/>
            <a:ext cx="667512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09F53D3-68AF-458F-A213-9543B62B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55264"/>
            <a:ext cx="13258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97B22"/>
          </a:solidFill>
          <a:ln xmlns:a="http://schemas.openxmlformats.org/drawingml/2006/main" w="12700">
            <a:solidFill>
              <a:srgbClr val="C97B2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90D1E4A-F205-45BA-8D78-2FF75D84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55264"/>
            <a:ext cx="1325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– 39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A38A2D1-75E5-4610-B591-842F6909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300984"/>
            <a:ext cx="1554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Low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7FC10BB-D63B-4BBE-8A83-283F630C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300984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Restricted input for policy evaluation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128EE2F-4A67-448F-812C-4EAE464B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14216"/>
            <a:ext cx="667512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970A7FE-530C-4F7C-A6C7-4E75F635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14216"/>
            <a:ext cx="13258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A83C3C"/>
          </a:solidFill>
          <a:ln xmlns:a="http://schemas.openxmlformats.org/drawingml/2006/main" w="12700">
            <a:solidFill>
              <a:srgbClr val="A83C3C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DCFFE96-5A18-4505-A706-4F917343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14216"/>
            <a:ext cx="1325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Critical evidence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9165331-42D6-4A79-B3A1-AF001C4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059936"/>
            <a:ext cx="1554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Override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EF46E3A-56BD-4936-9DFE-6C15B601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059936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>
                <a:solidFill>
                  <a:srgbClr val="5D6E82"/>
                </a:solidFill>
                <a:latin typeface="Calibri"/>
                <a:ea typeface="Calibri"/>
                <a:cs typeface="Calibri"/>
              </a:rPr>
              <a:t>Force the score ceiling and low band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8D99B7D-05C0-495C-873E-B9EED834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371600"/>
            <a:ext cx="4133088" cy="233172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8F170D7-7FA2-4D67-81AE-B580708B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727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Policy inputs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7963116-E47D-4C14-B105-A22610E9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20240"/>
            <a:ext cx="361188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sz="11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Certificate validity and state</a:t>
            </a:r>
            <a:endParaRPr sz="1100"/>
          </a:p>
          <a:p xmlns:a="http://schemas.openxmlformats.org/drawingml/2006/main">
            <a:pPr marL="177800" indent="-1778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sz="11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Authenticated tenant, subject and membership</a:t>
            </a:r>
            <a:endParaRPr sz="1100"/>
          </a:p>
          <a:p xmlns:a="http://schemas.openxmlformats.org/drawingml/2006/main">
            <a:pPr marL="177800" indent="-1778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sz="11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User role</a:t>
            </a:r>
            <a:endParaRPr sz="1100"/>
          </a:p>
          <a:p xmlns:a="http://schemas.openxmlformats.org/drawingml/2006/main">
            <a:pPr marL="177800" indent="-1778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sz="11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Trust score and score freshness</a:t>
            </a:r>
            <a:endParaRPr sz="1100"/>
          </a:p>
          <a:p xmlns:a="http://schemas.openxmlformats.org/drawingml/2006/main">
            <a:pPr marL="177800" indent="-1778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sz="11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Resource ownership and sensitivity</a:t>
            </a:r>
            <a:endParaRPr sz="1100"/>
          </a:p>
          <a:p xmlns:a="http://schemas.openxmlformats.org/drawingml/2006/main">
            <a:pPr marL="177800" indent="-1778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sz="11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Requested operation</a:t>
            </a:r>
            <a:endParaRPr sz="1100"/>
          </a:p>
          <a:p xmlns:a="http://schemas.openxmlformats.org/drawingml/2006/main">
            <a:pPr marL="177800" indent="-1778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sz="11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Device and network context</a:t>
            </a:r>
            <a:endParaRPr sz="11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2D1BCC0-69DD-44D6-B510-28D80D76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840480"/>
            <a:ext cx="4133088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E430B70-C813-4DA8-BB1D-0C0EA2EE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4164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Example policies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626E0C2-CE69-428B-BDE2-D1FD62EE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9120"/>
            <a:ext cx="36118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Reading a personal profile may require a score of at least 55</a:t>
            </a:r>
            <a:endParaRPr sz="1100"/>
          </a:p>
          <a:p xmlns:a="http://schemas.openxmlformats.org/drawingml/2006/main">
            <a:pPr marL="177800" indent="-1778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Administrative key rotation may require at least 90 plus step-up authentication</a:t>
            </a:r>
            <a:endParaRPr sz="1100"/>
          </a:p>
          <a:p xmlns:a="http://schemas.openxmlformats.org/drawingml/2006/main">
            <a:pPr marL="177800" indent="-1778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 sensitive export may require step-up, or be denied when context turns suspicious</a:t>
            </a:r>
            <a:endParaRPr sz="11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2EE65FE-5CE9-4760-A3EE-B1C778A3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64608"/>
            <a:ext cx="6675120" cy="1170432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BEEDD"/>
          </a:solidFill>
          <a:ln xmlns:a="http://schemas.openxmlformats.org/drawingml/2006/main" w="12700">
            <a:solidFill>
              <a:srgbClr val="FBEEDD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565076E-85ED-4F6E-9F3E-944E9A70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10912"/>
            <a:ext cx="6035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Mandatory boundaries</a:t>
            </a:r>
            <a:endParaRPr sz="14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A41FDBE-2843-49E8-B9A9-135A3299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21808"/>
            <a:ext cx="6172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300"/>
              </a:lnSpc>
              <a:spcAft>
                <a:spcPts val="2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Trust never decides alone. Certificate validity, tenant authority, membership and ownership remain mandatory. Recovery requires corroborated fresh evidence.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99515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0E1BCF1-81EE-4E17-BD28-0BFDC5D0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7E9E65-9FD6-455D-9624-7F0D79CD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ESCALATION AND PROVENANCE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E94542-BF31-4834-A352-A1FC3287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Certificate Actions and Audit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DCBF451-FF25-43CD-A541-42ABCB15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11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50EA63-598E-4980-8B75-115F9DB7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B677EA3-D6BA-49F3-9BAD-72DAB3F1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5331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Security-action states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51F807C-1418-45B4-B8BD-1F09FD7E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00784"/>
            <a:ext cx="310896" cy="384048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74AAF8-7A43-4275-A719-FF55144D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00784"/>
            <a:ext cx="3108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0C6D395-85C0-4FAC-86D4-3000D6ED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700784"/>
            <a:ext cx="50292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DEBB944-30CE-4874-80C4-F4FC8688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700784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Normal access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BF6534-BAA8-4514-8E10-9BF8507B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848"/>
            <a:ext cx="310896" cy="384048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3E7CB1"/>
          </a:solidFill>
          <a:ln xmlns:a="http://schemas.openxmlformats.org/drawingml/2006/main" w="12700">
            <a:solidFill>
              <a:srgbClr val="3E7CB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DA577F-FC64-47A7-9DC5-04B04EFD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848"/>
            <a:ext cx="3108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2C58C1-5F9F-4055-8618-060702D0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212848"/>
            <a:ext cx="50292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534819-CC1F-4A2B-A51D-70A81E1A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212848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Additional authentication required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901BF1C-5BFD-4085-AB6D-063E3ECF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24912"/>
            <a:ext cx="310896" cy="384048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19649DD-BC38-4694-96CD-5417EEA4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24912"/>
            <a:ext cx="3108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9AA4CD2-0EFA-4D2D-9997-2CE65A84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724912"/>
            <a:ext cx="50292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71B40F2-2382-49C7-93F4-C3E91A9B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24912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Restricted access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582F13E-D39D-4727-9A9F-3AF7E4F1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36976"/>
            <a:ext cx="310896" cy="384048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C97B22"/>
          </a:solidFill>
          <a:ln xmlns:a="http://schemas.openxmlformats.org/drawingml/2006/main" w="12700">
            <a:solidFill>
              <a:srgbClr val="C97B2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0F1E102-ABAB-40F8-8F21-E9AC60B7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36976"/>
            <a:ext cx="3108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965059C-AE6C-4A26-986B-2082A43F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236976"/>
            <a:ext cx="50292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1FBCEF1-7BEA-46BF-89F5-D8B3F9CB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36976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Temporary suspension or quarantine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481B592-4044-4E3C-9DD4-AF038CD9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10896" cy="384048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A83C3C"/>
          </a:solidFill>
          <a:ln xmlns:a="http://schemas.openxmlformats.org/drawingml/2006/main" w="12700">
            <a:solidFill>
              <a:srgbClr val="A83C3C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0897777-233F-4A7D-AA3F-E2AFB13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3108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A499D82-24CA-4B4F-BCAF-CF35DDF3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749040"/>
            <a:ext cx="50292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293FA3F-582E-4519-8DD7-2D58F7F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49040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Permanent certificate revocation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DCED6FF-AE92-42EF-B190-7F887FE1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61104"/>
            <a:ext cx="310896" cy="384048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3BDC8A8-88F4-4AD6-9531-33880A3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61104"/>
            <a:ext cx="3108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327A069-888E-488E-83E3-B4092153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261104"/>
            <a:ext cx="50292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2CED818-0705-443D-AB83-7401483C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61104"/>
            <a:ext cx="4663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Governed recovery and fresh issuance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A23686E-5FF2-403D-A13D-00300079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5449824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BEEDD"/>
          </a:solidFill>
          <a:ln xmlns:a="http://schemas.openxmlformats.org/drawingml/2006/main" w="12700">
            <a:solidFill>
              <a:srgbClr val="FBEEDD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EF55ED1-1B12-4357-AD80-C6688487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92624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Action rule</a:t>
            </a:r>
            <a:endParaRPr sz="14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4CB630F-A0CF-406F-ABC1-921CF99D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85232"/>
            <a:ext cx="4937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 small trust decrease never revokes a certificate. Permanent revocation requires severe or corroborated evidence. Terminal certificate events update trust once and cannot recursively trigger another action.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78D984B-581A-4229-B1CD-77C603F4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71600"/>
            <a:ext cx="5413248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D7106DD-AFD8-4467-A23A-179C11DA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72768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Blockchain record contents</a:t>
            </a:r>
            <a:endParaRPr sz="14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204B40BF-85BE-4FAD-BD95-7BC83C77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39112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C1D4E317-FAA5-40C5-991C-366AABB0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956816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Event ID</a:t>
            </a:r>
            <a:endParaRPr sz="10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2589BC4-DE74-4C78-B528-5516A11D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39112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AB3549B-F01E-410C-8251-31C5F2CC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1956816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Tenant ID</a:t>
            </a:r>
            <a:endParaRPr sz="10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B47E070-5A32-41B8-94D5-E1A5D104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22576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B65B7FCA-72F1-4103-9918-6A4468A4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240280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Evidence reference</a:t>
            </a:r>
            <a:endParaRPr sz="10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69BFCE1-EB07-4B49-8EB8-ACD7BACC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22576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C7BE6081-39EF-4F76-8DB6-C10B3332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240280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Trust-model version</a:t>
            </a:r>
            <a:endParaRPr sz="10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4CF43883-6AF1-4F63-BFDB-B7F7A8C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06040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7E65761E-DF32-4CAA-8DEF-CA7568D5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523744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Previous trust state</a:t>
            </a:r>
            <a:endParaRPr sz="10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A91308A-60D6-4F82-BE09-71E9577D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606040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E4334C1-1C1B-4674-86F4-ABA3F22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523744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Updated trust state</a:t>
            </a:r>
            <a:endParaRPr sz="105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336091-2416-47B5-B739-565B77D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89504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80E32F47-4C35-480D-8A91-7977EF47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807208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Policy version</a:t>
            </a:r>
            <a:endParaRPr sz="105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22A34253-0CC0-4E5B-8996-F9C13E22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889504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C767D1DA-23AE-4E96-93FE-29AB9A5D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807208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Authorization decision</a:t>
            </a:r>
            <a:endParaRPr sz="10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C445D1EF-660D-4F2C-B90D-2D8D1F38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72968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A69F4EC-3924-4617-BAFA-96ED7F85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090672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Certificate action</a:t>
            </a:r>
            <a:endParaRPr sz="105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AEFD5AC2-642D-4553-A5A7-A4971D82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72968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AA1C1F13-2BA1-4609-9CC2-FF159C33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090672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Timestamp</a:t>
            </a:r>
            <a:endParaRPr sz="105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F027124-3795-475A-A381-23FC40A8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56432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5313D6EC-00BB-4EB1-965C-06255547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374136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Hash commitment</a:t>
            </a:r>
            <a:endParaRPr sz="105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F19D7E98-5A2F-43EC-9EB5-D0AFF19D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56432"/>
            <a:ext cx="73152" cy="73152"/>
          </a:xfrm>
          <a:prstGeom xmlns:a="http://schemas.openxmlformats.org/drawingml/2006/main" prst="roundRect">
            <a:avLst>
              <a:gd name="adj" fmla="val 625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1114B9DD-6F68-45CB-9C4C-E6F3863C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374136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Ledger status</a:t>
            </a:r>
            <a:endParaRPr sz="105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67EA3293-929A-419A-9C9C-C4117C3A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86200"/>
            <a:ext cx="5413248" cy="214884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C2D8B09-13EC-4426-95A3-467383D2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6908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Audit design and limitation</a:t>
            </a:r>
            <a:endParaRPr sz="1400"/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0467C235-EAC2-4D5E-9C0C-C76E6987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07408"/>
            <a:ext cx="489204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PostgreSQL stores the complete event. Fabric stores the commitment and selected state anchors</a:t>
            </a:r>
            <a:endParaRPr sz="1050"/>
          </a:p>
          <a:p xmlns:a="http://schemas.openxmlformats.org/drawingml/2006/main">
            <a:pPr marL="177800" indent="-1778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 durable outbox queues ledger submissions. Runtime authorization never waits on the ledger</a:t>
            </a:r>
            <a:endParaRPr sz="1050"/>
          </a:p>
          <a:p xmlns:a="http://schemas.openxmlformats.org/drawingml/2006/main">
            <a:pPr marL="177800" indent="-1778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Pending, committed and failed ledger states stay visible</a:t>
            </a:r>
            <a:endParaRPr sz="1050"/>
          </a:p>
          <a:p xmlns:a="http://schemas.openxmlformats.org/drawingml/2006/main">
            <a:pPr marL="177800" indent="-1778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sz="10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Hash verification detects modification of a committed record. It cannot prove the original source reported truthfully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585891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244B46-B4A2-4FA8-9E10-EE245060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DA9870-2D0E-4491-9492-150D791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FUNCTIONAL RESULTS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2FD8DE8-A9EB-475C-BD66-437FFB9D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Measured Security Outcomes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4197B5-1566-40CF-99BA-92A92CE8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12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A8B6B2-7AEC-4166-890D-1030CB1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11CD022-EAEB-4654-B761-104AF987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02736" cy="17830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887C7D2-9C2A-49D2-90A0-4295CD5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602736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A27529-9688-485C-A209-B3325633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371600"/>
            <a:ext cx="31455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Baseline A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CDEED51-4CCD-48CE-BA93-97704C7A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48256"/>
            <a:ext cx="30906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JWT or username authentication with conventional RBAC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16E80F4-1DDB-405B-9AFD-D0B9184D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108" y="1371600"/>
            <a:ext cx="3602736" cy="17830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483D6F-84F5-421A-A010-6078250C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108" y="1371600"/>
            <a:ext cx="3602736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E5C82"/>
          </a:solidFill>
          <a:ln xmlns:a="http://schemas.openxmlformats.org/drawingml/2006/main" w="12700">
            <a:solidFill>
              <a:srgbClr val="3E5C8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5AE9CDD-F60F-43D5-9FF4-6E35A50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40" y="1371600"/>
            <a:ext cx="31455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Baseline B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733980-1696-4C93-970C-4B86E663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40" y="2048256"/>
            <a:ext cx="30906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Tenant-scoped X.509 PKI with conventional RBAC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2672DD-2A10-4CB2-80E0-52BD4F6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6" y="1371600"/>
            <a:ext cx="3602736" cy="17830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3F5C083-3184-4EA2-BD25-0B6DDC26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6" y="1371600"/>
            <a:ext cx="3602736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462384C-D461-4B65-BCA3-7888BBC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371600"/>
            <a:ext cx="31455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system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1ECC385-E340-4D86-9D88-4654E2C4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048256"/>
            <a:ext cx="309067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Tenant-scoped PKI with adaptive trust, context-aware OPA policies, closed-loop certificate actions and ledger provenance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78704C6-6172-465A-8A6F-C0685431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64992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Closed-catalog results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3B9A146-EDCC-48F5-867A-C7907192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85616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A1F1164-B2DB-4BF0-9CB9-65086672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9332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5437EB2-89C3-4953-AFE0-41F39AD6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749040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36,900 trials with identical workloads across all three modes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38A70A3-3CA9-429A-B3EF-AB30CA3F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70248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3EF564E-CDB4-4F15-823C-4F92701C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83964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6B05B84-CA4D-4829-8959-347B4961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233672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Adaptive mode: 100% attack detection and 0% false restriction</a:t>
            </a:r>
            <a:endParaRPr sz="11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8361BA3-4669-4245-9AEA-E991372D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F96A0F5-8C1F-4DEE-96A6-23A74580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68596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3BF2FE-9534-4EF1-825D-B438E71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718304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Adaptive mode: 100% tenant isolation and replay rejection</a:t>
            </a:r>
            <a:endParaRPr sz="11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7F7656C-2F89-430D-882C-C28AE406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3951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1736329-2A89-48ED-89FF-EF112936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3228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613AF91-092E-4D66-91A5-15294C7D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202936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Adaptive mode: 100% audit modification detection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755DA2E-39DA-485B-B781-DB891C9F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24144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01475FF-FE74-4A77-9CDB-789D595B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37860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D459B84-CE37-4E91-B6E1-3C31B069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687568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Adaptive mode: 100% ledger verification</a:t>
            </a:r>
            <a:endParaRPr sz="11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D1FA00C-1023-4AC3-9667-33EB8A06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85616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4D194AA-A005-4276-898B-3404CB40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99332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80682AC-2936-46CB-A059-560D87DA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3749040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Both baselines: 14.29% attack detection</a:t>
            </a:r>
            <a:endParaRPr sz="11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A65538D-559A-4815-87CA-0BC17F3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70248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B9E63FC-DCA0-458F-B6D5-E8C412FE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83964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1A9950C-6B08-4573-8288-2CF5B0A7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233672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Both baselines: 50% tenant isolation in the full catalog</a:t>
            </a:r>
            <a:endParaRPr sz="11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BF51ECA-0B6C-4885-9B7F-C82B6EEE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754880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8EC96A0-4289-4594-8440-26EDF77D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768596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  <a:endParaRPr sz="11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E868A20-C21C-496B-8A02-F0C16D6E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718304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Adaptive revocation: 1,230 of 1,230 completed</a:t>
            </a:r>
            <a:endParaRPr sz="11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C05F59A8-61AD-462A-BE9F-282A2AE2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239512"/>
            <a:ext cx="292608" cy="292608"/>
          </a:xfrm>
          <a:prstGeom xmlns:a="http://schemas.openxmlformats.org/drawingml/2006/main" prst="roundRect">
            <a:avLst>
              <a:gd name="adj" fmla="val 156250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1C1E8838-3C4B-4D3F-A212-E6342B12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253228"/>
            <a:ext cx="292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  <a:endParaRPr sz="11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2007A508-7E22-4F8B-9A88-2DC0F351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5202936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5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Limits: synthetic signals, closed catalog and one local host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822781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A75AB97-391A-4A4E-BEDE-6B4AFA96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C41AA2-76DA-41FA-A4EB-1F423FE7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PERFORMANCE AND ABLATIONS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6C7F7A-4317-4F32-BEBB-18225A9A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294B"/>
                </a:solidFill>
                <a:latin typeface="Cambria"/>
                <a:ea typeface="Cambria"/>
                <a:cs typeface="Cambria"/>
              </a:rPr>
              <a:t>Measured Tradeoffs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086FF2-3E5D-47EB-9220-C51BA58D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13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D23463-A4E9-427A-A017-1A9F2746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AA8BA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997BECB-05C6-4897-B3E9-1888BE0E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47872" cy="361188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F4E6DC4-F9BE-4FA1-BA11-1FBBA078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72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Decision performance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AE1AE85-417D-4559-B8BF-842B0C53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75104"/>
            <a:ext cx="30175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3,780 live decisions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Adaptive p95 below 19 ms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65.199 requests/s at load 1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902.403 requests/s at load 8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914.277 requests/s at load 32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Live OPA dominates latency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FA80BE0-B2DE-49E2-8EA0-936C2D3D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371600"/>
            <a:ext cx="3547872" cy="361188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EDF1F7"/>
          </a:solidFill>
          <a:ln xmlns:a="http://schemas.openxmlformats.org/drawingml/2006/main" w="12700">
            <a:solidFill>
              <a:srgbClr val="EDF1F7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A86C4BA-7BF0-4ED8-A04D-D2C5CD40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572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7B22"/>
                </a:solidFill>
                <a:latin typeface="Calibri"/>
                <a:ea typeface="Calibri"/>
                <a:cs typeface="Calibri"/>
              </a:rPr>
              <a:t>Ledger and recovery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5364DA-77BC-42C1-B809-61BA8955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975104"/>
            <a:ext cx="30175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30 real Fabric commits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2,190.359 ms p95 delay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Three reversible peer outages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9,365.072 ms median recovery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Authorization remained available</a:t>
            </a:r>
            <a:endParaRPr sz="1300"/>
          </a:p>
          <a:p xmlns:a="http://schemas.openxmlformats.org/drawingml/2006/main">
            <a:pPr marL="177800" indent="-177800">
              <a:lnSpc>
                <a:spcPts val="1700"/>
              </a:lnSpc>
              <a:spcAft>
                <a:spcPts val="1500"/>
              </a:spcAft>
              <a:buSzPct val="100000"/>
              <a:buChar char="•"/>
            </a:pPr>
            <a:r>
              <a:rPr sz="1300">
                <a:solidFill>
                  <a:srgbClr val="1C2733"/>
                </a:solidFill>
                <a:latin typeface="Calibri"/>
                <a:ea typeface="Calibri"/>
                <a:cs typeface="Calibri"/>
              </a:rPr>
              <a:t>Zero delivery gaps after recovery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860FE2C-7286-47F4-89CB-8E1E8719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371600"/>
            <a:ext cx="3547872" cy="3611880"/>
          </a:xfrm>
          <a:prstGeom xmlns:a="http://schemas.openxmlformats.org/drawingml/2006/main" prst="roundRect">
            <a:avLst>
              <a:gd name="adj" fmla="val 1546"/>
            </a:avLst>
          </a:prstGeom>
          <a:solidFill xmlns:a="http://schemas.openxmlformats.org/drawingml/2006/main">
            <a:srgbClr val="13294B"/>
          </a:solidFill>
          <a:ln xmlns:a="http://schemas.openxmlformats.org/drawingml/2006/main" w="12700">
            <a:solidFill>
              <a:srgbClr val="13294B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9AA8BA">
                <a:alpha val="28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A94062-CC71-4CCC-A27C-34001895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1572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9F8F"/>
                </a:solidFill>
                <a:latin typeface="Calibri"/>
                <a:ea typeface="Calibri"/>
                <a:cs typeface="Calibri"/>
              </a:rPr>
              <a:t>Ablation findings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5789D5-7D86-40A1-A2BE-C7A5A299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1975104"/>
            <a:ext cx="306324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sz="12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Smoothing suppressed one noisy restriction but delayed sustained restriction and recovery</a:t>
            </a:r>
            <a:endParaRPr sz="1200"/>
          </a:p>
          <a:p xmlns:a="http://schemas.openxmlformats.org/drawingml/2006/main"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sz="12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Terminal feedback guards stopped recursive actions</a:t>
            </a:r>
            <a:endParaRPr sz="1200"/>
          </a:p>
          <a:p xmlns:a="http://schemas.openxmlformats.org/drawingml/2006/main"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sz="12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Synchronous Fabric modeled 118.3x to 134.4x request inflation</a:t>
            </a:r>
            <a:endParaRPr sz="1200"/>
          </a:p>
          <a:p xmlns:a="http://schemas.openxmlformats.org/drawingml/2006/main"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•"/>
            </a:pPr>
            <a:r>
              <a:rPr sz="120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Weights and thresholds still require calibration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44543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33CA51-C14E-48A9-8ACE-31886BF5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-2194560"/>
            <a:ext cx="7863840" cy="969264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0A1A30"/>
          </a:solidFill>
          <a:ln xmlns:a="http://schemas.openxmlformats.org/drawingml/2006/main" w="12700">
            <a:solidFill>
              <a:srgbClr val="0A1A3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532EAFB-5B70-454C-A5AD-25F2FD9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"/>
            <a:ext cx="155448" cy="566928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51CBE8-281F-4EF2-8AD1-56A9A737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4048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60">
                <a:solidFill>
                  <a:srgbClr val="8FB9CF"/>
                </a:solidFill>
                <a:latin typeface="Calibri"/>
                <a:ea typeface="Calibri"/>
                <a:cs typeface="Calibri"/>
              </a:rPr>
              <a:t>FINAL RELEASE</a:t>
            </a:r>
            <a:endParaRPr sz="1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105F8C0-06CD-4D2D-84D3-A3B293B7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3504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Completed Outcome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7EC0C7-2ACF-4835-8DAD-4BA51562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2764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7E92AB"/>
                </a:solidFill>
                <a:latin typeface="Calibri"/>
                <a:ea typeface="Calibri"/>
                <a:cs typeface="Calibri"/>
              </a:rPr>
              <a:t>14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369252-B785-433C-96C4-FA14AAA6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2764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E92AB"/>
                </a:solidFill>
                <a:latin typeface="Calibri"/>
                <a:ea typeface="Calibri"/>
                <a:cs typeface="Calibri"/>
              </a:rPr>
              <a:t>Adaptive Trust-Aware Security Framework  ·  Final Demonstration</a:t>
            </a:r>
            <a:endParaRPr sz="1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9F4119-861B-4DF8-B700-E3D44454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55064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747D728-B001-42C6-9F2F-B3EA8DC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55064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91D768C-8014-4CB3-9978-F18D1CCF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72768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A runnable local multi-tenant SaaS prototype</a:t>
            </a:r>
            <a:endParaRPr sz="13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4FF5159-45C6-4861-B39F-BF26920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655064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D934187-5F48-48EB-9E7C-07630813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655064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C077CF1-6EC4-4D6B-9826-5FB41356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572768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Two isolated demonstration tenants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5F0FE10-5C19-4A22-85D2-1FCE4285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41448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7FA10A4-5092-4CDA-BB92-AD309AB3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4144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9C5E251-0EA8-4883-BD0C-69F7C84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59152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Tenant-bound X.509 certificates</a:t>
            </a:r>
            <a:endParaRPr sz="13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03B88E1-E7FB-454C-B006-995EDCDD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441448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659812A-2EC6-498C-8C18-36C67286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44144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12C0A84-8E23-42A0-A610-2F7FB854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359152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Explainable continuous trust scores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78523B5-6BE4-4FC9-99DA-7142FB95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27832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E33F1A-D292-4312-80FA-DB6A1FCB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2783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B26BFDC-4087-4C10-8811-219085F2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45536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Context-aware authorization decisions</a:t>
            </a:r>
            <a:endParaRPr sz="13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6242180-AA8B-45B7-84C6-63DB3144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227832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52A5278-0DA4-4625-9693-125FE808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22783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4611E02-40D7-4AD6-9368-FD0478EC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145536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Controlled certificate suspension and revocation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8962EE2-7017-481C-97AA-4D0F7979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14216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05D75B6-6E21-4D97-9C2A-304F2F43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1421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B06EA2D-662C-4668-B1C5-AF29756D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31920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Tamper-evident audit commitments</a:t>
            </a:r>
            <a:endParaRPr sz="13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3309611-ECD1-4C67-A327-6D34759F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014216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E47DC38-D582-402D-8590-06E9C55F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01421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6C2F6D-DA3E-4DF3-AC95-2F570BD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931920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Reproducible workloads and comparative results</a:t>
            </a:r>
            <a:endParaRPr sz="13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A700B4F-06A0-4317-B0D8-AE858D16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F7EF1EE-3368-4349-80A4-90B623B8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441910D-39B1-4F94-AA48-1A032F3D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18304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Source code, Docker configuration and test fixtures</a:t>
            </a:r>
            <a:endParaRPr sz="13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18435E28-D2E8-4859-A328-D99E7188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0600"/>
            <a:ext cx="310896" cy="310896"/>
          </a:xfrm>
          <a:prstGeom xmlns:a="http://schemas.openxmlformats.org/drawingml/2006/main" prst="roundRect">
            <a:avLst>
              <a:gd name="adj" fmla="val 147059"/>
            </a:avLst>
          </a:prstGeom>
          <a:solidFill xmlns:a="http://schemas.openxmlformats.org/drawingml/2006/main">
            <a:srgbClr val="0E9F8F"/>
          </a:solidFill>
          <a:ln xmlns:a="http://schemas.openxmlformats.org/drawingml/2006/main" w="12700">
            <a:solidFill>
              <a:srgbClr val="0E9F8F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C6B0D9A-6F69-4587-A7CF-CDBFB06C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060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294B"/>
                </a:solidFill>
                <a:latin typeface="Calibri"/>
                <a:ea typeface="Calibri"/>
                <a:cs typeface="Calibri"/>
              </a:rPr>
              <a:t>✓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C8D3B42-9223-42C6-9BE9-5E41514E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718304"/>
            <a:ext cx="484632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50">
                <a:solidFill>
                  <a:srgbClr val="E4ECF6"/>
                </a:solidFill>
                <a:latin typeface="Calibri"/>
                <a:ea typeface="Calibri"/>
                <a:cs typeface="Calibri"/>
              </a:rPr>
              <a:t>Architecture, API, demo and final report</a:t>
            </a:r>
            <a:endParaRPr sz="13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36E59ED-728B-476F-9733-12EF7184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05856"/>
            <a:ext cx="110825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E5C8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74736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2026-10-28T08:43:34.3590000Z</dcterms:created>
  <dcterms:modified xsi:type="dcterms:W3CDTF">2026-10-28T08:43:34.3590000Z</dcterms:modified>
</coreProperties>
</file>